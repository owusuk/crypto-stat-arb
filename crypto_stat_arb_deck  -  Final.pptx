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097280"/>
            <a:ext cx="4754880" cy="4754880"/>
          </a:xfrm>
          <a:prstGeom prst="ellipse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3291840"/>
            <a:ext cx="3291840" cy="3291840"/>
          </a:xfrm>
          <a:prstGeom prst="ellipse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ADCFC"/>
                </a:solidFill>
                <a:latin typeface="Calibri"/>
              </a:rPr>
              <a:t>WALL STREET QUANTS  |  BOOTCAMP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Statistical Arbitrage 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Cryptocurrency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CADCFC"/>
                </a:solidFill>
                <a:latin typeface="Calibri"/>
              </a:rPr>
              <a:t>Momentum and reversal research on live market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920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1.02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422392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Net Sharpe (combined)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75488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8920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20.6%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422392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Alpha per 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75488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48920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-0.02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422392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Beta to Bitcoin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Coinbase daily + hourly prices and Deribit DVOL  |  2021-01-01 to 2026-10-08  |  net of 20 / 7 bps costs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Momentum + reversal: market-neutral, profitable after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6692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Horizon decides the sign. </a:t>
            </a:r>
            <a:r>
              <a:rPr sz="1450" b="0">
                <a:solidFill>
                  <a:srgbClr val="1E2761"/>
                </a:solidFill>
                <a:latin typeface="Calibri"/>
              </a:rPr>
              <a:t>Crypto shows momentum from 1 to 30 days (peak at 14 days, Sharpe 1.09). Reversal appears only intraday and at 60-90 days.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Intraday reversal is huge but untradeable. </a:t>
            </a:r>
            <a:r>
              <a:rPr sz="1450" b="0">
                <a:solidFill>
                  <a:srgbClr val="1E2761"/>
                </a:solidFill>
                <a:latin typeface="Calibri"/>
              </a:rPr>
              <a:t>1-hour reversal has a gross Sharpe of 4.91, but costs wipe it out.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The brief's conditioning variables work. </a:t>
            </a:r>
            <a:r>
              <a:rPr sz="1450" b="0">
                <a:solidFill>
                  <a:srgbClr val="1E2761"/>
                </a:solidFill>
                <a:latin typeface="Calibri"/>
              </a:rPr>
              <a:t>Volume shocks, weekends, themes and calm option markets strengthen momentum; stress strengthens reversal.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Final strategy: </a:t>
            </a:r>
            <a:r>
              <a:rPr sz="1450" b="0">
                <a:solidFill>
                  <a:srgbClr val="1E2761"/>
                </a:solidFill>
                <a:latin typeface="Calibri"/>
              </a:rPr>
              <a:t>momentum ensemble + long-horizon reversal, mean-variance (shrunk) weights, market-neutral.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Honest hold-out: </a:t>
            </a:r>
            <a:r>
              <a:rPr sz="1450" b="0">
                <a:solidFill>
                  <a:srgbClr val="1E2761"/>
                </a:solidFill>
                <a:latin typeface="Calibri"/>
              </a:rPr>
              <a:t>Sharpe 0.55 in 2024-2026 vs 1.71 in research. Reversal held up; momentum decayed.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8308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76288" y="1929384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NET SHARPE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6288" y="2185416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1.02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6288" y="324612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vs 0.45 for BTC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178308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73768" y="1929384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ALPHA /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3768" y="2185416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C8C5A"/>
                </a:solidFill>
                <a:latin typeface="Cambria"/>
              </a:rPr>
              <a:t>20.6%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324612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t-stat 2.19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84048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3986784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BETA TO BTC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4242816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5B8DEF"/>
                </a:solidFill>
                <a:latin typeface="Cambria"/>
              </a:rPr>
              <a:t>-0.02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530352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market-neutral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384048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8" y="3986784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MAX DRAWDOWN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4242816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96167"/>
                </a:solidFill>
                <a:latin typeface="Cambria"/>
              </a:rPr>
              <a:t>-28.1%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530352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vs -67.0% for BTC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Calibri"/>
              </a:rPr>
              <a:t>Full backtest 2021-12-28 to 2026-10-08; momentum at 20 bps market orders, reversal at 7 bps limit orders.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RESEARCH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Every item in the brief, tested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303520" cy="5029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HOW TO FIND MOMENTUM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303520" cy="74980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9728" cy="749808"/>
          </a:xfrm>
          <a:prstGeom prst="rect">
            <a:avLst/>
          </a:prstGeom>
          <a:solidFill>
            <a:srgbClr val="2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Time horizon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Momentum at 1-30 days (CS peak 1.09)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79"/>
            <a:ext cx="5303520" cy="74980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54679"/>
            <a:ext cx="109728" cy="749808"/>
          </a:xfrm>
          <a:prstGeom prst="rect">
            <a:avLst/>
          </a:prstGeom>
          <a:solidFill>
            <a:srgbClr val="2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2783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New info /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7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Volume shock lifts 3-day momentum 0.79 -&gt; 0.95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5303520" cy="74980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109728" cy="749808"/>
          </a:xfrm>
          <a:prstGeom prst="rect">
            <a:avLst/>
          </a:prstGeom>
          <a:solidFill>
            <a:srgbClr val="2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Seasonality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61688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TS momentum: weekend Sharpe 1.77 vs weekday 0.39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00600"/>
            <a:ext cx="5303520" cy="74980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800600"/>
            <a:ext cx="109728" cy="749808"/>
          </a:xfrm>
          <a:prstGeom prst="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7375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Themes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84648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Theme momentum gross Sharpe 2.02 (research); decayed after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23560"/>
            <a:ext cx="5303520" cy="74980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623560"/>
            <a:ext cx="109728" cy="74980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967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Technical plays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07608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Front-running US session: 1.63 bps/day, not tradable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691640"/>
            <a:ext cx="5303520" cy="5029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69164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HOW TO FIND REVERSAL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331720"/>
            <a:ext cx="5303520" cy="74980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331720"/>
            <a:ext cx="109728" cy="749808"/>
          </a:xfrm>
          <a:prstGeom prst="rect">
            <a:avLst/>
          </a:prstGeom>
          <a:solidFill>
            <a:srgbClr val="2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24048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Time horizon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2715768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1-hour reversal gross Sharpe 4.91; 60-day reversal tradable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154679"/>
            <a:ext cx="5303520" cy="74980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154679"/>
            <a:ext cx="109728" cy="749808"/>
          </a:xfrm>
          <a:prstGeom prst="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322783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Uninformed trading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3538727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Low-activity moves: weaker 1-day momentum (0.18 vs 0.49)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977639"/>
            <a:ext cx="5303520" cy="74980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977639"/>
            <a:ext cx="109728" cy="749808"/>
          </a:xfrm>
          <a:prstGeom prst="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59" y="4050791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Correlation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4361688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Theme-residual reversal 0.78; pairs fail after cost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800600"/>
            <a:ext cx="5303520" cy="749808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800600"/>
            <a:ext cx="109728" cy="749808"/>
          </a:xfrm>
          <a:prstGeom prst="rect">
            <a:avLst/>
          </a:prstGeom>
          <a:solidFill>
            <a:srgbClr val="2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59" y="487375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Macro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59" y="5184648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1-day reversal: -1.82 in calm vs 0.58 in volatile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669280"/>
            <a:ext cx="228600" cy="228600"/>
          </a:xfrm>
          <a:prstGeom prst="rect">
            <a:avLst/>
          </a:prstGeom>
          <a:solidFill>
            <a:srgbClr val="2C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650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confirmed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5669280"/>
            <a:ext cx="228600" cy="228600"/>
          </a:xfrm>
          <a:prstGeom prst="rect">
            <a:avLst/>
          </a:prstGeom>
          <a:solidFill>
            <a:srgbClr val="E6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79" y="56509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partly / gross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55480" y="5669280"/>
            <a:ext cx="228600" cy="228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29800" y="5650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not found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DATA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Live data, unconstrained backtests, honest hold-out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Prices: </a:t>
            </a:r>
            <a:r>
              <a:rPr sz="1450" b="0">
                <a:solidFill>
                  <a:srgbClr val="1E2761"/>
                </a:solidFill>
                <a:latin typeface="Calibri"/>
              </a:rPr>
              <a:t>Coinbase daily OHLCV (2021 onward) and hourly OHLCV (2022 onward). Binance is geo-blocked here (HTTP 451).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Implied vol: </a:t>
            </a:r>
            <a:r>
              <a:rPr sz="1450" b="0">
                <a:solidFill>
                  <a:srgbClr val="1E2761"/>
                </a:solidFill>
                <a:latin typeface="Calibri"/>
              </a:rPr>
              <a:t>Deribit DVOL, the crypto VIX.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Universe: </a:t>
            </a:r>
            <a:r>
              <a:rPr sz="1450" b="0">
                <a:solidFill>
                  <a:srgbClr val="1E2761"/>
                </a:solidFill>
                <a:latin typeface="Calibri"/>
              </a:rPr>
              <a:t>16 liquid coins in 4 themes; XRP (listing gap) and MKR (delisted Jan-2026) excluded.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Backtest: </a:t>
            </a:r>
            <a:r>
              <a:rPr sz="1450" b="0">
                <a:solidFill>
                  <a:srgbClr val="1E2761"/>
                </a:solidFill>
                <a:latin typeface="Calibri"/>
              </a:rPr>
              <a:t>unconstrained, gross exposure = 1, positions lagged one day, no look-ahead.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Costs: </a:t>
            </a:r>
            <a:r>
              <a:rPr sz="1450" b="0">
                <a:solidFill>
                  <a:srgbClr val="1E2761"/>
                </a:solidFill>
                <a:latin typeface="Calibri"/>
              </a:rPr>
              <a:t>20 bps per unit turnover for market orders, 7 bps for limit orders, sweep 0-200 bps.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5B8DEF"/>
                </a:solidFill>
                <a:latin typeface="Calibri"/>
              </a:rPr>
              <a:t>-  </a:t>
            </a:r>
            <a:r>
              <a:rPr sz="1450" b="1">
                <a:solidFill>
                  <a:srgbClr val="1E2761"/>
                </a:solidFill>
                <a:latin typeface="Calibri"/>
              </a:rPr>
              <a:t>Discipline: </a:t>
            </a:r>
            <a:r>
              <a:rPr sz="1450" b="0">
                <a:solidFill>
                  <a:srgbClr val="1E2761"/>
                </a:solidFill>
                <a:latin typeface="Calibri"/>
              </a:rPr>
              <a:t>all choices made on 2021-2023 data; 2024-2026 is an untouched hold-out.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78308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93407" y="1920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2026-10-08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3407" y="25603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ADCFC"/>
                </a:solidFill>
                <a:latin typeface="Calibri"/>
              </a:rPr>
              <a:t>DATA 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78308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9448" y="19202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9448" y="25603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ADCFC"/>
                </a:solidFill>
                <a:latin typeface="Calibri"/>
              </a:rPr>
              <a:t>COINS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15468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7" y="32918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7" y="39319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ADCFC"/>
                </a:solidFill>
                <a:latin typeface="Calibri"/>
              </a:rPr>
              <a:t>CANDIDATES TESTED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15468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32918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668k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393192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ADCFC"/>
                </a:solidFill>
                <a:latin typeface="Calibri"/>
              </a:rPr>
              <a:t>HOURLY BARS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6177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473659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8DEF"/>
                </a:solidFill>
                <a:latin typeface="Calibri"/>
              </a:rPr>
              <a:t>THEMES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02920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761"/>
                </a:solidFill>
                <a:latin typeface="Calibri"/>
              </a:rPr>
              <a:t>Payments &amp; Meme: BTC LTC BCH XLM DOGE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761"/>
                </a:solidFill>
                <a:latin typeface="Calibri"/>
              </a:rPr>
              <a:t>Large L1: ETH SOL AVAX   |   Alt L1: ADA DOT ATOM ALGO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2761"/>
                </a:solidFill>
                <a:latin typeface="Calibri"/>
              </a:rPr>
              <a:t>DeFi &amp; Oracle: UNI AAVE COMP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MOMENTUM VS REVERSAL: TIME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Daily horizons show momentum; reversal lives at the extremes</a:t>
            </a:r>
          </a:p>
        </p:txBody>
      </p:sp>
      <p:pic>
        <p:nvPicPr>
          <p:cNvPr id="4" name="Picture 3" descr="A_horizon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315200" cy="33649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92440" y="178308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93608" y="19293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PEAK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3608" y="218541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1.09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93608" y="28346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cross-sectional, 14-day look-back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3375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348386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1-HOUR REVERSAL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373989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C8C5A"/>
                </a:solidFill>
                <a:latin typeface="Cambria"/>
              </a:rPr>
              <a:t>4.91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43891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gross Sharpe, hourly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89204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503834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COST OF 1-DAY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529437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96167"/>
                </a:solidFill>
                <a:latin typeface="Cambria"/>
              </a:rPr>
              <a:t>~95%/yr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594359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1.3x turnover/day at 20 bps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A5A5A"/>
                </a:solidFill>
                <a:latin typeface="Calibri"/>
              </a:rPr>
              <a:t>Opposite of the equity pattern in the brief, consistent with crypto evidence (Dobrynskaya).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MOMENTUM: ACTIVITY AND SEASONALITY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Volume shocks and weekends strengthen momentum</a:t>
            </a:r>
          </a:p>
        </p:txBody>
      </p:sp>
      <p:pic>
        <p:nvPicPr>
          <p:cNvPr id="4" name="Picture 3" descr="B_activ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0"/>
            <a:ext cx="5760720" cy="2534716"/>
          </a:xfrm>
          <a:prstGeom prst="rect">
            <a:avLst/>
          </a:prstGeom>
        </p:spPr>
      </p:pic>
      <p:pic>
        <p:nvPicPr>
          <p:cNvPr id="5" name="Picture 4" descr="C_day_of_w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45920"/>
            <a:ext cx="5760720" cy="2419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57200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5B8DEF"/>
                </a:solidFill>
                <a:latin typeface="Calibri"/>
              </a:rPr>
              <a:t>-  </a:t>
            </a:r>
            <a:r>
              <a:rPr sz="1350">
                <a:solidFill>
                  <a:srgbClr val="1E2761"/>
                </a:solidFill>
                <a:latin typeface="Calibri"/>
              </a:rPr>
              <a:t>Weighting by volume shock lifts 1-day momentum 0.53 -&gt; 0.61 and 3-day 0.79 -&gt; 0.95.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5B8DEF"/>
                </a:solidFill>
                <a:latin typeface="Calibri"/>
              </a:rPr>
              <a:t>-  </a:t>
            </a:r>
            <a:r>
              <a:rPr sz="1350">
                <a:solidFill>
                  <a:srgbClr val="1E2761"/>
                </a:solidFill>
                <a:latin typeface="Calibri"/>
              </a:rPr>
              <a:t>Holds in the hold-out (3-day: 0.63 -&gt; 1.01).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57200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5B8DEF"/>
                </a:solidFill>
                <a:latin typeface="Calibri"/>
              </a:rPr>
              <a:t>-  </a:t>
            </a:r>
            <a:r>
              <a:rPr sz="1350">
                <a:solidFill>
                  <a:srgbClr val="1E2761"/>
                </a:solidFill>
                <a:latin typeface="Calibri"/>
              </a:rPr>
              <a:t>TS momentum Sharpe 1.77 on weekends vs 0.39 on weekdays: retail trends persist when institutions are away.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5B8DEF"/>
                </a:solidFill>
                <a:latin typeface="Calibri"/>
              </a:rPr>
              <a:t>-  </a:t>
            </a:r>
            <a:r>
              <a:rPr sz="1350">
                <a:solidFill>
                  <a:srgbClr val="1E2761"/>
                </a:solidFill>
                <a:latin typeface="Calibri"/>
              </a:rPr>
              <a:t>Hourly: the US session averages -1.11 bps/hour on weekdays; gains accrue outside US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MOMENTUM: THEMES AND TECHNICAL PLAYS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Themes worked, then decayed; front-running fails on cost</a:t>
            </a:r>
          </a:p>
        </p:txBody>
      </p:sp>
      <p:pic>
        <p:nvPicPr>
          <p:cNvPr id="4" name="Picture 3" descr="D_theme_ind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0"/>
            <a:ext cx="6766560" cy="29772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2360" y="1737360"/>
            <a:ext cx="155448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2088" y="1737360"/>
            <a:ext cx="1444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Theme look-back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6840" y="1737360"/>
            <a:ext cx="91440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73736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Gross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921240" y="1737360"/>
            <a:ext cx="96012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173736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Gross OOS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1737360"/>
            <a:ext cx="96012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173736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Net 20 bps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148840"/>
            <a:ext cx="1554480" cy="411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148840"/>
            <a:ext cx="1444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7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2148840"/>
            <a:ext cx="914400" cy="411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14884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1.31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2148840"/>
            <a:ext cx="960120" cy="411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214884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0.46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81360" y="2148840"/>
            <a:ext cx="960120" cy="411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214884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-0.89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560320"/>
            <a:ext cx="1554480" cy="41148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2560320"/>
            <a:ext cx="1444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14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560320"/>
            <a:ext cx="914400" cy="41148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56032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2.02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2560320"/>
            <a:ext cx="960120" cy="41148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56032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0.66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81360" y="2560320"/>
            <a:ext cx="960120" cy="41148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256032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0.15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2971800"/>
            <a:ext cx="1554480" cy="411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2971800"/>
            <a:ext cx="1444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21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2971800"/>
            <a:ext cx="914400" cy="411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297180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1.99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21240" y="2971800"/>
            <a:ext cx="960120" cy="411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297180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81360" y="2971800"/>
            <a:ext cx="960120" cy="411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0" y="297180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3383280"/>
            <a:ext cx="15544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2088" y="3383280"/>
            <a:ext cx="1444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30 days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3383280"/>
            <a:ext cx="9144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338328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1.76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21240" y="3383280"/>
            <a:ext cx="9601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338328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0.33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81360" y="3383280"/>
            <a:ext cx="96012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60" y="3383280"/>
            <a:ext cx="960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0.23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52360" y="4023360"/>
            <a:ext cx="4389120" cy="2194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416052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FRONT-RUNNING THE US SESSION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48056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1.63 bps/day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120640"/>
            <a:ext cx="4023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Coins that led yesterday's US session lead again (Sharpe 0.53, t = 1.17), but a full daily round trip costs more than the edge even at 7 bps.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12064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E2761"/>
                </a:solidFill>
                <a:latin typeface="Calibri"/>
              </a:rPr>
              <a:t>Theme momentum was the strongest research-period signal (14-day gross Sharpe 2.02). In 2024-2026 theme moves came in sharp bursts that reversed, and the signal decayed to 0.66.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REVERSAL: HORIZON, UNINFORMED TRADING,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Reversal is real; only the slow version pays</a:t>
            </a:r>
          </a:p>
        </p:txBody>
      </p:sp>
      <p:pic>
        <p:nvPicPr>
          <p:cNvPr id="4" name="Picture 3" descr="C_intraday_s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0"/>
            <a:ext cx="6675120" cy="25486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69480" y="1691640"/>
            <a:ext cx="2103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169164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Reversal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1691640"/>
            <a:ext cx="86868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72600" y="16916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Gross Sharpe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0" y="1691640"/>
            <a:ext cx="86868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6916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Net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09959" y="1691640"/>
            <a:ext cx="7772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09959" y="16916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Turnover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2148840"/>
            <a:ext cx="210312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214884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33333"/>
                </a:solidFill>
                <a:latin typeface="Calibri"/>
              </a:rPr>
              <a:t>1-hour cross-sectional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148840"/>
            <a:ext cx="86868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1488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4.91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148840"/>
            <a:ext cx="86868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1488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-43 @7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09959" y="2148840"/>
            <a:ext cx="7772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09959" y="21488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1.34/h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60604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260604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33333"/>
                </a:solidFill>
                <a:latin typeface="Calibri"/>
              </a:rPr>
              <a:t>Market-residual 7d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2606040"/>
            <a:ext cx="868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6060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-1.01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2606040"/>
            <a:ext cx="868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26060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-1.66 @7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09959" y="260604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09959" y="26060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0.51/d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3063240"/>
            <a:ext cx="210312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9208" y="306324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33333"/>
                </a:solidFill>
                <a:latin typeface="Calibri"/>
              </a:rPr>
              <a:t>Theme-residual 60d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3063240"/>
            <a:ext cx="86868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0632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0.78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3063240"/>
            <a:ext cx="86868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30632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0.49 @7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09959" y="3063240"/>
            <a:ext cx="7772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09959" y="30632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0.20/d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352044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9208" y="352044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33333"/>
                </a:solidFill>
                <a:latin typeface="Calibri"/>
              </a:rPr>
              <a:t>Cointegrated pairs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3520440"/>
            <a:ext cx="868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35204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0.24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41280" y="3520440"/>
            <a:ext cx="868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352044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-0.11 @20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09959" y="352044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09959" y="35204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0.033/d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3977639"/>
            <a:ext cx="210312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9208" y="3977639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60d, skip 14d (selected)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72600" y="3977639"/>
            <a:ext cx="86868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3977639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1.02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3977639"/>
            <a:ext cx="86868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0" y="3977639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0.94 @7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109959" y="3977639"/>
            <a:ext cx="77724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09959" y="3977639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0.06/d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43484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5B8DEF"/>
                </a:solidFill>
                <a:latin typeface="Calibri"/>
              </a:rPr>
              <a:t>-  </a:t>
            </a:r>
            <a:r>
              <a:rPr sz="1300" b="1">
                <a:solidFill>
                  <a:srgbClr val="1E2761"/>
                </a:solidFill>
                <a:latin typeface="Calibri"/>
              </a:rPr>
              <a:t>Short horizon: </a:t>
            </a:r>
            <a:r>
              <a:rPr sz="1300" b="0">
                <a:solidFill>
                  <a:srgbClr val="1E2761"/>
                </a:solidFill>
                <a:latin typeface="Calibri"/>
              </a:rPr>
              <a:t>hour-to-hour moves are liquidity noise and reverse strongly, but turnover makes it a market-maker's edge, not ours.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5B8DEF"/>
                </a:solidFill>
                <a:latin typeface="Calibri"/>
              </a:rPr>
              <a:t>-  </a:t>
            </a:r>
            <a:r>
              <a:rPr sz="1300" b="1">
                <a:solidFill>
                  <a:srgbClr val="1E2761"/>
                </a:solidFill>
                <a:latin typeface="Calibri"/>
              </a:rPr>
              <a:t>Correlation: </a:t>
            </a:r>
            <a:r>
              <a:rPr sz="1300" b="0">
                <a:solidFill>
                  <a:srgbClr val="1E2761"/>
                </a:solidFill>
                <a:latin typeface="Calibri"/>
              </a:rPr>
              <a:t>residuals vs the whole market trend; residuals vs the coin's own theme revert over 1-2 months.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5B8DEF"/>
                </a:solidFill>
                <a:latin typeface="Calibri"/>
              </a:rPr>
              <a:t>-  </a:t>
            </a:r>
            <a:r>
              <a:rPr sz="1300" b="1">
                <a:solidFill>
                  <a:srgbClr val="1E2761"/>
                </a:solidFill>
                <a:latin typeface="Calibri"/>
              </a:rPr>
              <a:t>Long horizon: </a:t>
            </a:r>
            <a:r>
              <a:rPr sz="1300" b="0">
                <a:solidFill>
                  <a:srgbClr val="1E2761"/>
                </a:solidFill>
                <a:latin typeface="Calibri"/>
              </a:rPr>
              <a:t>60-day losers beat 60-day winners - overreaction compressed into weeks.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MACRO: VOLATILITY AND DISLOCATION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Stress helps reversal; high implied vol breaks momentum</a:t>
            </a:r>
          </a:p>
        </p:txBody>
      </p:sp>
      <p:pic>
        <p:nvPicPr>
          <p:cNvPr id="4" name="Picture 3" descr="G_macro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11430000" cy="3429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0749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52212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1-DAY REVERSAL, CALM VS VOLATILE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5477256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-1.82 / 0.58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60350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Sharpe: low vs mid realized vol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50749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52212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TS MOMENTUM, IMPLIED VOL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5477256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96167"/>
                </a:solidFill>
                <a:latin typeface="Cambria"/>
              </a:rPr>
              <a:t>1.37 / -1.20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60350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Sharpe: low vs high DVOL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507492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5166360"/>
            <a:ext cx="3154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Action: switch time-series momentum off when DVOL is in its top tercile (selected on the research period).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Turnover, not signal discovery, is the binding constraint</a:t>
            </a:r>
          </a:p>
        </p:txBody>
      </p:sp>
      <p:pic>
        <p:nvPicPr>
          <p:cNvPr id="4" name="Picture 3" descr="H_cost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0"/>
            <a:ext cx="6035040" cy="29504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20840" y="1737360"/>
            <a:ext cx="2103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0568" y="173736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Momentum 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959" y="1737360"/>
            <a:ext cx="86868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59" y="173736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Turnover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39" y="1737360"/>
            <a:ext cx="6858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39" y="17373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Gross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78439" y="1737360"/>
            <a:ext cx="6858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39" y="17373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7 bps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064239" y="1737360"/>
            <a:ext cx="7315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39" y="1737360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20 bps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2194560"/>
            <a:ext cx="210312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219456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33333"/>
                </a:solidFill>
                <a:latin typeface="Calibri"/>
              </a:rPr>
              <a:t>Daily rebalance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59" y="2194560"/>
            <a:ext cx="86868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19456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0.237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39" y="2194560"/>
            <a:ext cx="68580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39" y="21945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1.26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78439" y="2194560"/>
            <a:ext cx="68580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39" y="21945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1.08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64239" y="2194560"/>
            <a:ext cx="73152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39" y="2194560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265176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265176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33333"/>
                </a:solidFill>
                <a:latin typeface="Calibri"/>
              </a:rPr>
              <a:t>Hold 7d (overlapping)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59" y="2651760"/>
            <a:ext cx="868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59" y="265176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0.137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39" y="2651760"/>
            <a:ext cx="685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39" y="26517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0.69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39" y="2651760"/>
            <a:ext cx="685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39" y="26517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0.58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64239" y="265176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64239" y="2651760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0.39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3108960"/>
            <a:ext cx="210312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0568" y="310896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No-trade band 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59" y="3108960"/>
            <a:ext cx="86868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59" y="310896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0.197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39" y="3108960"/>
            <a:ext cx="68580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39" y="31089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1.26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78439" y="3108960"/>
            <a:ext cx="68580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78439" y="31089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1.11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064239" y="3108960"/>
            <a:ext cx="73152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64239" y="3108960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0.83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0840" y="3566160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30568" y="3566160"/>
            <a:ext cx="19933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33333"/>
                </a:solidFill>
                <a:latin typeface="Calibri"/>
              </a:rPr>
              <a:t>No-trade band 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59" y="3566160"/>
            <a:ext cx="868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23959" y="3566160"/>
            <a:ext cx="868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0.137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39" y="3566160"/>
            <a:ext cx="685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39" y="35661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0.95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78439" y="3566160"/>
            <a:ext cx="685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78439" y="3566160"/>
            <a:ext cx="685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0.84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064239" y="356616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64239" y="3566160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0.63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5B8DEF"/>
                </a:solidFill>
                <a:latin typeface="Calibri"/>
              </a:rPr>
              <a:t>-  </a:t>
            </a:r>
            <a:r>
              <a:rPr sz="1350" b="1">
                <a:solidFill>
                  <a:srgbClr val="1E2761"/>
                </a:solidFill>
                <a:latin typeface="Calibri"/>
              </a:rPr>
              <a:t>Bands beat holding periods: </a:t>
            </a:r>
            <a:r>
              <a:rPr sz="1350" b="0">
                <a:solidFill>
                  <a:srgbClr val="1E2761"/>
                </a:solidFill>
                <a:latin typeface="Calibri"/>
              </a:rPr>
              <a:t>a 2% no-trade band cuts momentum turnover without diluting the signal (20 bps Sharpe 0.75 -&gt; 0.83).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5B8DEF"/>
                </a:solidFill>
                <a:latin typeface="Calibri"/>
              </a:rPr>
              <a:t>-  </a:t>
            </a:r>
            <a:r>
              <a:rPr sz="1350" b="1">
                <a:solidFill>
                  <a:srgbClr val="1E2761"/>
                </a:solidFill>
                <a:latin typeface="Calibri"/>
              </a:rPr>
              <a:t>Limit orders: </a:t>
            </a:r>
            <a:r>
              <a:rPr sz="1350" b="0">
                <a:solidFill>
                  <a:srgbClr val="1E2761"/>
                </a:solidFill>
                <a:latin typeface="Calibri"/>
              </a:rPr>
              <a:t>the slow reversal book is worked passively at 7 bps; the combined book stays positive to ~50 bps (Sharpe 0.36).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SELECTION AND WEIGHTING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Diversify the momentum bet, then combine with reversal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8DEF"/>
                </a:solidFill>
                <a:latin typeface="Calibri"/>
              </a:rPr>
              <a:t>MOMENTUM ENSEMBLE (20 BPS)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8DEF"/>
                </a:solidFill>
                <a:latin typeface="Calibri"/>
              </a:rPr>
              <a:t>-  </a:t>
            </a:r>
            <a:r>
              <a:rPr sz="1300">
                <a:solidFill>
                  <a:srgbClr val="1E2761"/>
                </a:solidFill>
                <a:latin typeface="Calibri"/>
              </a:rPr>
              <a:t>TS momentum blend H=1 + DVOL filter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8DEF"/>
                </a:solidFill>
                <a:latin typeface="Calibri"/>
              </a:rPr>
              <a:t>-  </a:t>
            </a:r>
            <a:r>
              <a:rPr sz="1300">
                <a:solidFill>
                  <a:srgbClr val="1E2761"/>
                </a:solidFill>
                <a:latin typeface="Calibri"/>
              </a:rPr>
              <a:t>Theme momentum L=14 H=7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8DEF"/>
                </a:solidFill>
                <a:latin typeface="Calibri"/>
              </a:rPr>
              <a:t>-  </a:t>
            </a:r>
            <a:r>
              <a:rPr sz="1300">
                <a:solidFill>
                  <a:srgbClr val="1E2761"/>
                </a:solidFill>
                <a:latin typeface="Calibri"/>
              </a:rPr>
              <a:t>CS momentum L=14 H=7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8DEF"/>
                </a:solidFill>
                <a:latin typeface="Calibri"/>
              </a:rPr>
              <a:t>REVERSAL (7 BPS)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930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E2761"/>
                </a:solidFill>
                <a:latin typeface="Calibri"/>
              </a:rPr>
              <a:t>Long-horizon reversal L=60 skip=14 H=14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26060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91640"/>
            <a:ext cx="24963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Weighting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691640"/>
            <a:ext cx="7772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6916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691640"/>
            <a:ext cx="7772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6916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61319" y="1691640"/>
            <a:ext cx="7772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61319" y="16916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48840"/>
            <a:ext cx="26060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148840"/>
            <a:ext cx="24963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Equal weight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2148840"/>
            <a:ext cx="7772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1488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1.44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2148840"/>
            <a:ext cx="7772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1488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61319" y="2148840"/>
            <a:ext cx="7772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19" y="21488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1.02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06040"/>
            <a:ext cx="2606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606040"/>
            <a:ext cx="24963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Inverse volatility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60604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6060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1.54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60604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6060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61319" y="260604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61319" y="26060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1.10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063240"/>
            <a:ext cx="26060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063240"/>
            <a:ext cx="24963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Risk parity (ERC)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3063240"/>
            <a:ext cx="7772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30632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1.54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3063240"/>
            <a:ext cx="7772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30632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0.80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61319" y="3063240"/>
            <a:ext cx="777240" cy="457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1319" y="30632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1.10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520440"/>
            <a:ext cx="260604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520440"/>
            <a:ext cx="24963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Mean-variance (shrunk)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3520440"/>
            <a:ext cx="77724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35204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1.71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3520440"/>
            <a:ext cx="77724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35204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0.55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61319" y="3520440"/>
            <a:ext cx="777240" cy="45720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61319" y="3520440"/>
            <a:ext cx="77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1.02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297680"/>
            <a:ext cx="3291840" cy="43891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4297680"/>
            <a:ext cx="31821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If the momentum sleeve were...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4297680"/>
            <a:ext cx="2103120" cy="43891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31920" y="4297680"/>
            <a:ext cx="2103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Hold-out Sharpe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736592"/>
            <a:ext cx="3291840" cy="438912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" y="4736592"/>
            <a:ext cx="31821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Ensemble (final)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0" y="4736592"/>
            <a:ext cx="2103120" cy="438912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0" y="4736592"/>
            <a:ext cx="2103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0.55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5175504"/>
            <a:ext cx="329184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5175504"/>
            <a:ext cx="31821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Single IS-best pick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5175504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31920" y="5175504"/>
            <a:ext cx="2103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0.09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614416"/>
            <a:ext cx="3291840" cy="438912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8" y="5614416"/>
            <a:ext cx="31821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TS momentum only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31920" y="5614416"/>
            <a:ext cx="2103120" cy="438912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0" y="5614416"/>
            <a:ext cx="2103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0.68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3434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1E2761"/>
                </a:solidFill>
                <a:latin typeface="Calibri"/>
              </a:rPr>
              <a:t>Momentum and reversal correlate at only 0.08, so every weighting scheme beats either sleeve alone. Mean-variance (shrunk) won on the research period; simpler risk-based weights did slightly better in the hold-out.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F96167"/>
                </a:solidFill>
                <a:latin typeface="Calibri"/>
              </a:rPr>
              <a:t>Picking the single best momentum strategy would have failed out of sample - the main lesson on selection risk.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Returns, volatility, Sharpe, drawdown, alpha and beta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28346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91640"/>
            <a:ext cx="27249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Full backtest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91640"/>
            <a:ext cx="10515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69164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79" y="1691640"/>
            <a:ext cx="10515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69164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691640"/>
            <a:ext cx="10058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69164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Sharpe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79" y="1691640"/>
            <a:ext cx="109728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69164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Max DD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59" y="1691640"/>
            <a:ext cx="109728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59" y="169164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Alpha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39" y="1691640"/>
            <a:ext cx="9144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39" y="169164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39" y="1691640"/>
            <a:ext cx="12344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39" y="1691640"/>
            <a:ext cx="1234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OOS Sharpe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194560"/>
            <a:ext cx="2834640" cy="50292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194560"/>
            <a:ext cx="27249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Combined portfolio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194560"/>
            <a:ext cx="1051560" cy="50292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19456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20.2%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79" y="2194560"/>
            <a:ext cx="1051560" cy="50292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79" y="219456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19.7%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194560"/>
            <a:ext cx="1005840" cy="50292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219456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1.02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79" y="2194560"/>
            <a:ext cx="1097280" cy="50292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79" y="219456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-28.1%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59" y="2194560"/>
            <a:ext cx="1097280" cy="50292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59" y="219456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20.6%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39" y="2194560"/>
            <a:ext cx="914400" cy="50292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39" y="219456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-0.02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39" y="2194560"/>
            <a:ext cx="1234440" cy="50292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39" y="2194560"/>
            <a:ext cx="1234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0.55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697480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2697480"/>
            <a:ext cx="27249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Combined (all at 20 bps)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2697480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269748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17.3%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79" y="2697480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79" y="269748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19.8%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269748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0" y="269748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0.88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79" y="269748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79" y="269748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-28.6%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59" y="269748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59" y="269748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17.8%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39" y="269748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39" y="269748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-0.02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92639" y="2697480"/>
            <a:ext cx="1234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39" y="2697480"/>
            <a:ext cx="1234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0.38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3200400"/>
            <a:ext cx="283464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3200400"/>
            <a:ext cx="27249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Momentum ensemble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3200400"/>
            <a:ext cx="105156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320040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22.3%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26279" y="3200400"/>
            <a:ext cx="105156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26279" y="320040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33.3%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3200400"/>
            <a:ext cx="100584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77840" y="320040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0.67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79" y="3200400"/>
            <a:ext cx="109728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79" y="320040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-31.1%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59" y="3200400"/>
            <a:ext cx="109728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59" y="320040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25.2%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39" y="3200400"/>
            <a:ext cx="91440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39" y="320040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-0.13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92639" y="3200400"/>
            <a:ext cx="123444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39" y="3200400"/>
            <a:ext cx="1234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3703320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3703320"/>
            <a:ext cx="27249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Reversal (7 bps)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0" y="3703320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0" y="370332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18.7%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26279" y="3703320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26279" y="370332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19.6%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77840" y="37033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77840" y="370332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0.95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3679" y="370332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79" y="370332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-33.7%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80959" y="370332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80959" y="370332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18.7%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78239" y="37033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78239" y="370332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92639" y="3703320"/>
            <a:ext cx="1234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92639" y="3703320"/>
            <a:ext cx="1234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1.00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" y="4206240"/>
            <a:ext cx="283464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9808" y="4206240"/>
            <a:ext cx="27249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Cointegration pairs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474720" y="4206240"/>
            <a:ext cx="105156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74720" y="420624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-0.7%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26279" y="4206240"/>
            <a:ext cx="105156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26279" y="420624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6.6%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77840" y="4206240"/>
            <a:ext cx="100584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77840" y="4206240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-0.11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583679" y="4206240"/>
            <a:ext cx="109728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583679" y="420624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-12.9%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80959" y="4206240"/>
            <a:ext cx="109728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80959" y="420624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-0.9%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778239" y="4206240"/>
            <a:ext cx="91440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778239" y="420624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0.01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92639" y="4206240"/>
            <a:ext cx="123444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92639" y="4206240"/>
            <a:ext cx="1234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-0.37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" y="4709159"/>
            <a:ext cx="2834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9808" y="4709159"/>
            <a:ext cx="27249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Equal-weight crypto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74720" y="4709159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74720" y="4709159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9.3%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526279" y="4709159"/>
            <a:ext cx="1051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26279" y="4709159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70.1%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577840" y="4709159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577840" y="4709159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0.13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583679" y="4709159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583679" y="4709159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-77.4%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680959" y="4709159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680959" y="4709159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-17.4%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778239" y="4709159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778239" y="4709159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1.17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92639" y="4709159"/>
            <a:ext cx="1234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92639" y="4709159"/>
            <a:ext cx="1234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0.31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0080" y="5212079"/>
            <a:ext cx="283464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49808" y="5212079"/>
            <a:ext cx="27249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Buy &amp; hold BTC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474720" y="5212079"/>
            <a:ext cx="105156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474720" y="5212079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22.9%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526279" y="5212079"/>
            <a:ext cx="105156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526279" y="5212079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50.8%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577840" y="5212079"/>
            <a:ext cx="100584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577840" y="5212079"/>
            <a:ext cx="1005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0.45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583679" y="5212079"/>
            <a:ext cx="109728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583679" y="5212079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-67.0%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680959" y="5212079"/>
            <a:ext cx="109728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680959" y="5212079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0.0%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78239" y="5212079"/>
            <a:ext cx="91440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778239" y="5212079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1.00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692639" y="5212079"/>
            <a:ext cx="1234440" cy="5029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692639" y="5212079"/>
            <a:ext cx="1234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0.74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40080" y="5852159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5A5A"/>
                </a:solidFill>
                <a:latin typeface="Calibri"/>
              </a:rPr>
              <a:t>2021-12-28 to 2026-10-08. Alpha / beta vs Bitcoin (daily regression, Newey-West). Combined alpha t-stat 2.19. OOS = hold-out 2024-01-01 onward.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8DE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Growth of $1: steady, market-neutral compounding</a:t>
            </a:r>
          </a:p>
        </p:txBody>
      </p:sp>
      <p:pic>
        <p:nvPicPr>
          <p:cNvPr id="4" name="Picture 3" descr="J_equ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7406640" cy="33666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5029200"/>
            <a:ext cx="182880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0"/>
            <a:ext cx="17190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Combined vs BTC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5029200"/>
            <a:ext cx="100584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5029200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Sharpe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5029200"/>
            <a:ext cx="109728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5029200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BTC Sharpe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029200"/>
            <a:ext cx="114300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029200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Alpha / 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5029200"/>
            <a:ext cx="100584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5029200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Max DD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5029200"/>
            <a:ext cx="114300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5029200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BTC Max DD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58384"/>
            <a:ext cx="1828800" cy="32918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358384"/>
            <a:ext cx="17190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33333"/>
                </a:solidFill>
                <a:latin typeface="Calibri"/>
              </a:rPr>
              <a:t>Research period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5358384"/>
            <a:ext cx="1005840" cy="32918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5358384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1.71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5358384"/>
            <a:ext cx="1097280" cy="32918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5358384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0.11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5358384"/>
            <a:ext cx="1143000" cy="32918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5358384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33.0%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5358384"/>
            <a:ext cx="1005840" cy="32918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5358384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-12.6%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5358384"/>
            <a:ext cx="1143000" cy="329184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5358384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-67.0%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687568"/>
            <a:ext cx="18288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687568"/>
            <a:ext cx="17190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33333"/>
                </a:solidFill>
                <a:latin typeface="Calibri"/>
              </a:rPr>
              <a:t>Hold-out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5687568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80" y="5687568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0.55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5687568"/>
            <a:ext cx="109728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68756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0.74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5687568"/>
            <a:ext cx="11430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5687568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11.6%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0" y="5687568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5687568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-23.5%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5687568"/>
            <a:ext cx="11430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5687568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-53.1%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016752"/>
            <a:ext cx="1828800" cy="329184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6016752"/>
            <a:ext cx="17190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Full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6016752"/>
            <a:ext cx="1005840" cy="329184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68880" y="6016752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1.02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6016752"/>
            <a:ext cx="1097280" cy="329184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6016752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0.45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6016752"/>
            <a:ext cx="1143000" cy="329184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6016752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20.6%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6016752"/>
            <a:ext cx="1005840" cy="329184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6016752"/>
            <a:ext cx="10058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-28.1%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6016752"/>
            <a:ext cx="1143000" cy="329184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6016752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-67.0%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2440" y="17373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3608" y="188366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RESEARCH PERIOD SHARPE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93608" y="213969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1.71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93608" y="27889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2021-2023, max DD -12.6%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329184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3608" y="343814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5A5A"/>
                </a:solidFill>
                <a:latin typeface="Calibri"/>
              </a:rPr>
              <a:t>HOLD-OUT SHARPE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3608" y="369417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6A817"/>
                </a:solidFill>
                <a:latin typeface="Cambria"/>
              </a:rPr>
              <a:t>0.55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93608" y="43434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1E2761"/>
                </a:solidFill>
                <a:latin typeface="Calibri"/>
              </a:rPr>
              <a:t>2024-2026, alpha 11.6%/yr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92440" y="484632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8100" dir="5400000" rotWithShape="0">
              <a:srgbClr val="1E276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93608" y="49926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ADCFC"/>
                </a:solidFill>
                <a:latin typeface="Calibri"/>
              </a:rPr>
              <a:t>BETA TO BTC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93608" y="524865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-0.02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93608" y="589787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CADCFC"/>
                </a:solidFill>
                <a:latin typeface="Calibri"/>
              </a:rPr>
              <a:t>BTC drawdown -67.0%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280160"/>
            <a:ext cx="5486400" cy="5486400"/>
          </a:xfrm>
          <a:prstGeom prst="ellipse">
            <a:avLst/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ADCFC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Signals exist; execution and diversification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749807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-  </a:t>
            </a:r>
            <a:r>
              <a:rPr sz="1600" b="1">
                <a:solidFill>
                  <a:srgbClr val="FFFFFF"/>
                </a:solidFill>
                <a:latin typeface="Calibri"/>
              </a:rPr>
              <a:t>Momentum at days-to-weeks, reversal at hours and months. </a:t>
            </a:r>
            <a:r>
              <a:rPr sz="1600" b="0">
                <a:solidFill>
                  <a:srgbClr val="FFFFFF"/>
                </a:solidFill>
                <a:latin typeface="Calibri"/>
              </a:rPr>
              <a:t>The brief's hypotheses on activity, seasonality, themes and macro are all visible in the data.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-  </a:t>
            </a:r>
            <a:r>
              <a:rPr sz="1600" b="1">
                <a:solidFill>
                  <a:srgbClr val="FFFFFF"/>
                </a:solidFill>
                <a:latin typeface="Calibri"/>
              </a:rPr>
              <a:t>Costs kill fast signals. </a:t>
            </a:r>
            <a:r>
              <a:rPr sz="1600" b="0">
                <a:solidFill>
                  <a:srgbClr val="FFFFFF"/>
                </a:solidFill>
                <a:latin typeface="Calibri"/>
              </a:rPr>
              <a:t>Bands, slow signals and limit orders turn gross edges into net ones.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-  </a:t>
            </a:r>
            <a:r>
              <a:rPr sz="1600" b="1">
                <a:solidFill>
                  <a:srgbClr val="FFFFFF"/>
                </a:solidFill>
                <a:latin typeface="Calibri"/>
              </a:rPr>
              <a:t>Combine uncorrelated sleeves. </a:t>
            </a:r>
            <a:r>
              <a:rPr sz="1600" b="0">
                <a:solidFill>
                  <a:srgbClr val="FFFFFF"/>
                </a:solidFill>
                <a:latin typeface="Calibri"/>
              </a:rPr>
              <a:t>Momentum + reversal: Sharpe 1.02, beta -0.02.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-  </a:t>
            </a:r>
            <a:r>
              <a:rPr sz="1600" b="1">
                <a:solidFill>
                  <a:srgbClr val="FFFFFF"/>
                </a:solidFill>
                <a:latin typeface="Calibri"/>
              </a:rPr>
              <a:t>Expect decay. </a:t>
            </a:r>
            <a:r>
              <a:rPr sz="1600" b="0">
                <a:solidFill>
                  <a:srgbClr val="FFFFFF"/>
                </a:solidFill>
                <a:latin typeface="Calibri"/>
              </a:rPr>
              <a:t>Hold-out Sharpe 0.55; next step is live paper trading.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10698480" cy="960120"/>
          </a:xfrm>
          <a:prstGeom prst="roundRect">
            <a:avLst>
              <a:gd name="adj" fmla="val 8000"/>
            </a:avLst>
          </a:prstGeom>
          <a:solidFill>
            <a:srgbClr val="141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59612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1.02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08990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NET SHARPE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59612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20.6%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08990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ALPHA / 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59612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-0.02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608990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559612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-28.1%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608990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MAX 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