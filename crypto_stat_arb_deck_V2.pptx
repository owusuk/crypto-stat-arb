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8595360" y="-1097280"/>
            <a:ext cx="4754880" cy="4754880"/>
          </a:xfrm>
          <a:prstGeom prst="ellipse">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966960" y="3291840"/>
            <a:ext cx="3291840" cy="3291840"/>
          </a:xfrm>
          <a:prstGeom prst="ellipse">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10058400"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CADCFC"/>
                </a:solidFill>
                <a:latin typeface="Calibri"/>
              </a:rPr>
              <a:t>WALL STREET QUANTS  |  BOOTCAMP PROJECT  |  VERSION 2</a:t>
            </a:r>
          </a:p>
        </p:txBody>
      </p:sp>
      <p:sp>
        <p:nvSpPr>
          <p:cNvPr id="5" name="TextBox 4"/>
          <p:cNvSpPr txBox="1"/>
          <p:nvPr/>
        </p:nvSpPr>
        <p:spPr>
          <a:xfrm>
            <a:off x="822960" y="1965960"/>
            <a:ext cx="10241280" cy="1828800"/>
          </a:xfrm>
          <a:prstGeom prst="rect">
            <a:avLst/>
          </a:prstGeom>
          <a:noFill/>
        </p:spPr>
        <p:txBody>
          <a:bodyPr wrap="square" anchor="t" lIns="0" rIns="0" tIns="0" bIns="0">
            <a:spAutoFit/>
          </a:bodyPr>
          <a:lstStyle/>
          <a:p>
            <a:pPr algn="l">
              <a:lnSpc>
                <a:spcPct val="100000"/>
              </a:lnSpc>
              <a:spcBef>
                <a:spcPts val="0"/>
              </a:spcBef>
              <a:spcAft>
                <a:spcPts val="200"/>
              </a:spcAft>
            </a:pPr>
            <a:r>
              <a:rPr sz="4400" b="1" i="0">
                <a:solidFill>
                  <a:srgbClr val="FFFFFF"/>
                </a:solidFill>
                <a:latin typeface="Cambria"/>
              </a:rPr>
              <a:t>Statistical Arbitrage in</a:t>
            </a:r>
          </a:p>
          <a:p>
            <a:pPr algn="l">
              <a:lnSpc>
                <a:spcPct val="100000"/>
              </a:lnSpc>
              <a:spcBef>
                <a:spcPts val="0"/>
              </a:spcBef>
              <a:spcAft>
                <a:spcPts val="200"/>
              </a:spcAft>
            </a:pPr>
            <a:r>
              <a:rPr sz="4400" b="1" i="0">
                <a:solidFill>
                  <a:srgbClr val="FFFFFF"/>
                </a:solidFill>
                <a:latin typeface="Cambria"/>
              </a:rPr>
              <a:t>Cryptocurrency Markets</a:t>
            </a:r>
          </a:p>
        </p:txBody>
      </p:sp>
      <p:sp>
        <p:nvSpPr>
          <p:cNvPr id="6" name="TextBox 5"/>
          <p:cNvSpPr txBox="1"/>
          <p:nvPr/>
        </p:nvSpPr>
        <p:spPr>
          <a:xfrm>
            <a:off x="822960" y="3703320"/>
            <a:ext cx="10058400" cy="548640"/>
          </a:xfrm>
          <a:prstGeom prst="rect">
            <a:avLst/>
          </a:prstGeom>
          <a:noFill/>
        </p:spPr>
        <p:txBody>
          <a:bodyPr wrap="square" anchor="t" lIns="0" rIns="0" tIns="0" bIns="0">
            <a:spAutoFit/>
          </a:bodyPr>
          <a:lstStyle/>
          <a:p>
            <a:pPr algn="l">
              <a:lnSpc>
                <a:spcPct val="100000"/>
              </a:lnSpc>
              <a:spcBef>
                <a:spcPts val="0"/>
              </a:spcBef>
              <a:spcAft>
                <a:spcPts val="400"/>
              </a:spcAft>
            </a:pPr>
            <a:r>
              <a:rPr sz="1800" b="0" i="1">
                <a:solidFill>
                  <a:srgbClr val="CADCFC"/>
                </a:solidFill>
                <a:latin typeface="Calibri"/>
              </a:rPr>
              <a:t>Momentum and reversal on a survivorship-free 39-coin universe</a:t>
            </a:r>
          </a:p>
        </p:txBody>
      </p:sp>
      <p:sp>
        <p:nvSpPr>
          <p:cNvPr id="7" name="Rounded Rectangle 6"/>
          <p:cNvSpPr/>
          <p:nvPr/>
        </p:nvSpPr>
        <p:spPr>
          <a:xfrm>
            <a:off x="822960" y="4754880"/>
            <a:ext cx="3200400" cy="1051560"/>
          </a:xfrm>
          <a:prstGeom prst="roundRect">
            <a:avLst>
              <a:gd name="adj" fmla="val 12000"/>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892040"/>
            <a:ext cx="274320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FFFFF"/>
                </a:solidFill>
                <a:latin typeface="Cambria"/>
              </a:rPr>
              <a:t>0.20</a:t>
            </a:r>
          </a:p>
        </p:txBody>
      </p:sp>
      <p:sp>
        <p:nvSpPr>
          <p:cNvPr id="9" name="TextBox 8"/>
          <p:cNvSpPr txBox="1"/>
          <p:nvPr/>
        </p:nvSpPr>
        <p:spPr>
          <a:xfrm>
            <a:off x="1051560" y="5422392"/>
            <a:ext cx="2788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CADCFC"/>
                </a:solidFill>
                <a:latin typeface="Calibri"/>
              </a:rPr>
              <a:t>Hold-out Sharpe (x sqrt 252)</a:t>
            </a:r>
          </a:p>
        </p:txBody>
      </p:sp>
      <p:sp>
        <p:nvSpPr>
          <p:cNvPr id="10" name="Rounded Rectangle 9"/>
          <p:cNvSpPr/>
          <p:nvPr/>
        </p:nvSpPr>
        <p:spPr>
          <a:xfrm>
            <a:off x="4251960" y="4754880"/>
            <a:ext cx="3200400" cy="1051560"/>
          </a:xfrm>
          <a:prstGeom prst="roundRect">
            <a:avLst>
              <a:gd name="adj" fmla="val 12000"/>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4892040"/>
            <a:ext cx="274320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FFFFF"/>
                </a:solidFill>
                <a:latin typeface="Cambria"/>
              </a:rPr>
              <a:t>0.52</a:t>
            </a:r>
          </a:p>
        </p:txBody>
      </p:sp>
      <p:sp>
        <p:nvSpPr>
          <p:cNvPr id="12" name="TextBox 11"/>
          <p:cNvSpPr txBox="1"/>
          <p:nvPr/>
        </p:nvSpPr>
        <p:spPr>
          <a:xfrm>
            <a:off x="4480560" y="5422392"/>
            <a:ext cx="2788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CADCFC"/>
                </a:solidFill>
                <a:latin typeface="Calibri"/>
              </a:rPr>
              <a:t>Hold-out alpha t-stat</a:t>
            </a:r>
          </a:p>
        </p:txBody>
      </p:sp>
      <p:sp>
        <p:nvSpPr>
          <p:cNvPr id="13" name="Rounded Rectangle 12"/>
          <p:cNvSpPr/>
          <p:nvPr/>
        </p:nvSpPr>
        <p:spPr>
          <a:xfrm>
            <a:off x="7680960" y="4754880"/>
            <a:ext cx="3200400" cy="1051560"/>
          </a:xfrm>
          <a:prstGeom prst="roundRect">
            <a:avLst>
              <a:gd name="adj" fmla="val 12000"/>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4892040"/>
            <a:ext cx="274320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FFFFF"/>
                </a:solidFill>
                <a:latin typeface="Cambria"/>
              </a:rPr>
              <a:t>-0.12</a:t>
            </a:r>
          </a:p>
        </p:txBody>
      </p:sp>
      <p:sp>
        <p:nvSpPr>
          <p:cNvPr id="15" name="TextBox 14"/>
          <p:cNvSpPr txBox="1"/>
          <p:nvPr/>
        </p:nvSpPr>
        <p:spPr>
          <a:xfrm>
            <a:off x="7909560" y="5422392"/>
            <a:ext cx="2788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CADCFC"/>
                </a:solidFill>
                <a:latin typeface="Calibri"/>
              </a:rPr>
              <a:t>Hold-out correlation to BTC</a:t>
            </a:r>
          </a:p>
        </p:txBody>
      </p:sp>
      <p:sp>
        <p:nvSpPr>
          <p:cNvPr id="16" name="TextBox 15"/>
          <p:cNvSpPr txBox="1"/>
          <p:nvPr/>
        </p:nvSpPr>
        <p:spPr>
          <a:xfrm>
            <a:off x="822960" y="6263640"/>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CADCFC"/>
                </a:solidFill>
                <a:latin typeface="Calibri"/>
              </a:rPr>
              <a:t>Research 2021-2023 (all decisions)  |  hold-out 2024-2026 (untouched)  |  net of 20 / 7 bps costs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B8DEF"/>
                </a:solidFill>
                <a:latin typeface="Calibri"/>
              </a:rPr>
              <a:t>EXECUTIVE SUMMARY</a:t>
            </a:r>
          </a:p>
        </p:txBody>
      </p:sp>
      <p:sp>
        <p:nvSpPr>
          <p:cNvPr id="3" name="TextBox 2"/>
          <p:cNvSpPr txBox="1"/>
          <p:nvPr/>
        </p:nvSpPr>
        <p:spPr>
          <a:xfrm>
            <a:off x="640080" y="73152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Hold-out first: a modest, market-neutral edge</a:t>
            </a:r>
          </a:p>
        </p:txBody>
      </p:sp>
      <p:sp>
        <p:nvSpPr>
          <p:cNvPr id="4" name="TextBox 3"/>
          <p:cNvSpPr txBox="1"/>
          <p:nvPr/>
        </p:nvSpPr>
        <p:spPr>
          <a:xfrm>
            <a:off x="640080" y="1783080"/>
            <a:ext cx="5669280" cy="4480560"/>
          </a:xfrm>
          <a:prstGeom prst="rect">
            <a:avLst/>
          </a:prstGeom>
          <a:noFill/>
        </p:spPr>
        <p:txBody>
          <a:bodyPr wrap="square" lIns="0" rIns="0" tIns="0" bIns="0">
            <a:spAutoFit/>
          </a:bodyPr>
          <a:lstStyle/>
          <a:p>
            <a:pPr>
              <a:lnSpc>
                <a:spcPct val="105000"/>
              </a:lnSpc>
              <a:spcBef>
                <a:spcPts val="0"/>
              </a:spcBef>
              <a:spcAft>
                <a:spcPts val="1000"/>
              </a:spcAft>
            </a:pPr>
            <a:r>
              <a:rPr sz="1400" b="1">
                <a:solidFill>
                  <a:srgbClr val="5B8DEF"/>
                </a:solidFill>
                <a:latin typeface="Calibri"/>
              </a:rPr>
              <a:t>-  </a:t>
            </a:r>
            <a:r>
              <a:rPr sz="1400" b="1">
                <a:solidFill>
                  <a:srgbClr val="1E2761"/>
                </a:solidFill>
                <a:latin typeface="Calibri"/>
              </a:rPr>
              <a:t>Hold-out (2024-2026): </a:t>
            </a:r>
            <a:r>
              <a:rPr sz="1400" b="0">
                <a:solidFill>
                  <a:srgbClr val="1E2761"/>
                </a:solidFill>
                <a:latin typeface="Calibri"/>
              </a:rPr>
              <a:t>Sharpe 0.20, alpha 2.8%/yr with t = 0.52 - not significant.</a:t>
            </a:r>
          </a:p>
          <a:p>
            <a:pPr>
              <a:lnSpc>
                <a:spcPct val="105000"/>
              </a:lnSpc>
              <a:spcBef>
                <a:spcPts val="0"/>
              </a:spcBef>
              <a:spcAft>
                <a:spcPts val="1000"/>
              </a:spcAft>
            </a:pPr>
            <a:r>
              <a:rPr sz="1400" b="1">
                <a:solidFill>
                  <a:srgbClr val="5B8DEF"/>
                </a:solidFill>
                <a:latin typeface="Calibri"/>
              </a:rPr>
              <a:t>-  </a:t>
            </a:r>
            <a:r>
              <a:rPr sz="1400" b="1">
                <a:solidFill>
                  <a:srgbClr val="1E2761"/>
                </a:solidFill>
                <a:latin typeface="Calibri"/>
              </a:rPr>
              <a:t>Research (2021-2023): </a:t>
            </a:r>
            <a:r>
              <a:rPr sz="1400" b="0">
                <a:solidFill>
                  <a:srgbClr val="1E2761"/>
                </a:solidFill>
                <a:latin typeface="Calibri"/>
              </a:rPr>
              <a:t>Sharpe 0.93, alpha t 1.64. The gap is selection bias plus decay.</a:t>
            </a:r>
          </a:p>
          <a:p>
            <a:pPr>
              <a:lnSpc>
                <a:spcPct val="105000"/>
              </a:lnSpc>
              <a:spcBef>
                <a:spcPts val="0"/>
              </a:spcBef>
              <a:spcAft>
                <a:spcPts val="1000"/>
              </a:spcAft>
            </a:pPr>
            <a:r>
              <a:rPr sz="1400" b="1">
                <a:solidFill>
                  <a:srgbClr val="5B8DEF"/>
                </a:solidFill>
                <a:latin typeface="Calibri"/>
              </a:rPr>
              <a:t>-  </a:t>
            </a:r>
            <a:r>
              <a:rPr sz="1400" b="1">
                <a:solidFill>
                  <a:srgbClr val="1E2761"/>
                </a:solidFill>
                <a:latin typeface="Calibri"/>
              </a:rPr>
              <a:t>Market-neutral: </a:t>
            </a:r>
            <a:r>
              <a:rPr sz="1400" b="0">
                <a:solidFill>
                  <a:srgbClr val="1E2761"/>
                </a:solidFill>
                <a:latin typeface="Calibri"/>
              </a:rPr>
              <a:t>beta -0.03, correlation to BTC -0.12.</a:t>
            </a:r>
          </a:p>
          <a:p>
            <a:pPr>
              <a:lnSpc>
                <a:spcPct val="105000"/>
              </a:lnSpc>
              <a:spcBef>
                <a:spcPts val="0"/>
              </a:spcBef>
              <a:spcAft>
                <a:spcPts val="1000"/>
              </a:spcAft>
            </a:pPr>
            <a:r>
              <a:rPr sz="1400" b="1">
                <a:solidFill>
                  <a:srgbClr val="5B8DEF"/>
                </a:solidFill>
                <a:latin typeface="Calibri"/>
              </a:rPr>
              <a:t>-  </a:t>
            </a:r>
            <a:r>
              <a:rPr sz="1400" b="1">
                <a:solidFill>
                  <a:srgbClr val="1E2761"/>
                </a:solidFill>
                <a:latin typeface="Calibri"/>
              </a:rPr>
              <a:t>What survived: </a:t>
            </a:r>
            <a:r>
              <a:rPr sz="1400" b="0">
                <a:solidFill>
                  <a:srgbClr val="1E2761"/>
                </a:solidFill>
                <a:latin typeface="Calibri"/>
              </a:rPr>
              <a:t>time-series momentum switched off when implied vol (DVOL) is high.</a:t>
            </a:r>
          </a:p>
          <a:p>
            <a:pPr>
              <a:lnSpc>
                <a:spcPct val="105000"/>
              </a:lnSpc>
              <a:spcBef>
                <a:spcPts val="0"/>
              </a:spcBef>
              <a:spcAft>
                <a:spcPts val="1000"/>
              </a:spcAft>
            </a:pPr>
            <a:r>
              <a:rPr sz="1400" b="1">
                <a:solidFill>
                  <a:srgbClr val="5B8DEF"/>
                </a:solidFill>
                <a:latin typeface="Calibri"/>
              </a:rPr>
              <a:t>-  </a:t>
            </a:r>
            <a:r>
              <a:rPr sz="1400" b="1">
                <a:solidFill>
                  <a:srgbClr val="1E2761"/>
                </a:solidFill>
                <a:latin typeface="Calibri"/>
              </a:rPr>
              <a:t>What faded: </a:t>
            </a:r>
            <a:r>
              <a:rPr sz="1400" b="0">
                <a:solidFill>
                  <a:srgbClr val="1E2761"/>
                </a:solidFill>
                <a:latin typeface="Calibri"/>
              </a:rPr>
              <a:t>theme momentum and slow residual reversal.</a:t>
            </a:r>
          </a:p>
          <a:p>
            <a:pPr>
              <a:lnSpc>
                <a:spcPct val="105000"/>
              </a:lnSpc>
              <a:spcBef>
                <a:spcPts val="0"/>
              </a:spcBef>
              <a:spcAft>
                <a:spcPts val="1000"/>
              </a:spcAft>
            </a:pPr>
            <a:r>
              <a:rPr sz="1400" b="1">
                <a:solidFill>
                  <a:srgbClr val="5B8DEF"/>
                </a:solidFill>
                <a:latin typeface="Calibri"/>
              </a:rPr>
              <a:t>-  </a:t>
            </a:r>
            <a:r>
              <a:rPr sz="1400" b="1">
                <a:solidFill>
                  <a:srgbClr val="1E2761"/>
                </a:solidFill>
                <a:latin typeface="Calibri"/>
              </a:rPr>
              <a:t>vs version 1: </a:t>
            </a:r>
            <a:r>
              <a:rPr sz="1400" b="0">
                <a:solidFill>
                  <a:srgbClr val="1E2761"/>
                </a:solidFill>
                <a:latin typeface="Calibri"/>
              </a:rPr>
              <a:t>1.02 (sqrt 365) = 0.85 at sqrt 252; hold-out 0.46 -&gt; 0.20 after fixes.</a:t>
            </a:r>
          </a:p>
        </p:txBody>
      </p:sp>
      <p:sp>
        <p:nvSpPr>
          <p:cNvPr id="5" name="Rounded Rectangle 4"/>
          <p:cNvSpPr/>
          <p:nvPr/>
        </p:nvSpPr>
        <p:spPr>
          <a:xfrm>
            <a:off x="6675120" y="1783080"/>
            <a:ext cx="2514600" cy="1828800"/>
          </a:xfrm>
          <a:prstGeom prst="roundRect">
            <a:avLst>
              <a:gd name="adj" fmla="val 8000"/>
            </a:avLst>
          </a:prstGeom>
          <a:solidFill>
            <a:srgbClr val="F4F6FB"/>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76288" y="1929384"/>
            <a:ext cx="214884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5A5A5A"/>
                </a:solidFill>
                <a:latin typeface="Calibri"/>
              </a:rPr>
              <a:t>HOLD-OUT SHARPE</a:t>
            </a:r>
          </a:p>
        </p:txBody>
      </p:sp>
      <p:sp>
        <p:nvSpPr>
          <p:cNvPr id="7" name="TextBox 6"/>
          <p:cNvSpPr txBox="1"/>
          <p:nvPr/>
        </p:nvSpPr>
        <p:spPr>
          <a:xfrm>
            <a:off x="6876288" y="2185416"/>
            <a:ext cx="214884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0.20</a:t>
            </a:r>
          </a:p>
        </p:txBody>
      </p:sp>
      <p:sp>
        <p:nvSpPr>
          <p:cNvPr id="8" name="TextBox 7"/>
          <p:cNvSpPr txBox="1"/>
          <p:nvPr/>
        </p:nvSpPr>
        <p:spPr>
          <a:xfrm>
            <a:off x="6876288" y="3246120"/>
            <a:ext cx="214884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1E2761"/>
                </a:solidFill>
                <a:latin typeface="Calibri"/>
              </a:rPr>
              <a:t>research 0.93</a:t>
            </a:r>
          </a:p>
        </p:txBody>
      </p:sp>
      <p:sp>
        <p:nvSpPr>
          <p:cNvPr id="9" name="Rounded Rectangle 8"/>
          <p:cNvSpPr/>
          <p:nvPr/>
        </p:nvSpPr>
        <p:spPr>
          <a:xfrm>
            <a:off x="9372600" y="1783080"/>
            <a:ext cx="2514600" cy="1828800"/>
          </a:xfrm>
          <a:prstGeom prst="roundRect">
            <a:avLst>
              <a:gd name="adj" fmla="val 8000"/>
            </a:avLst>
          </a:prstGeom>
          <a:solidFill>
            <a:srgbClr val="F4F6FB"/>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73768" y="1929384"/>
            <a:ext cx="214884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5A5A5A"/>
                </a:solidFill>
                <a:latin typeface="Calibri"/>
              </a:rPr>
              <a:t>HOLD-OUT ALPHA T</a:t>
            </a:r>
          </a:p>
        </p:txBody>
      </p:sp>
      <p:sp>
        <p:nvSpPr>
          <p:cNvPr id="11" name="TextBox 10"/>
          <p:cNvSpPr txBox="1"/>
          <p:nvPr/>
        </p:nvSpPr>
        <p:spPr>
          <a:xfrm>
            <a:off x="9573768" y="2185416"/>
            <a:ext cx="214884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96167"/>
                </a:solidFill>
                <a:latin typeface="Cambria"/>
              </a:rPr>
              <a:t>0.52</a:t>
            </a:r>
          </a:p>
        </p:txBody>
      </p:sp>
      <p:sp>
        <p:nvSpPr>
          <p:cNvPr id="12" name="TextBox 11"/>
          <p:cNvSpPr txBox="1"/>
          <p:nvPr/>
        </p:nvSpPr>
        <p:spPr>
          <a:xfrm>
            <a:off x="9573768" y="3246120"/>
            <a:ext cx="214884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1E2761"/>
                </a:solidFill>
                <a:latin typeface="Calibri"/>
              </a:rPr>
              <a:t>research 1.64</a:t>
            </a:r>
          </a:p>
        </p:txBody>
      </p:sp>
      <p:sp>
        <p:nvSpPr>
          <p:cNvPr id="13" name="Rounded Rectangle 12"/>
          <p:cNvSpPr/>
          <p:nvPr/>
        </p:nvSpPr>
        <p:spPr>
          <a:xfrm>
            <a:off x="6675120" y="3840480"/>
            <a:ext cx="2514600" cy="1828800"/>
          </a:xfrm>
          <a:prstGeom prst="roundRect">
            <a:avLst>
              <a:gd name="adj" fmla="val 8000"/>
            </a:avLst>
          </a:prstGeom>
          <a:solidFill>
            <a:srgbClr val="F4F6FB"/>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76288" y="3986784"/>
            <a:ext cx="214884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5A5A5A"/>
                </a:solidFill>
                <a:latin typeface="Calibri"/>
              </a:rPr>
              <a:t>CORR TO BTC</a:t>
            </a:r>
          </a:p>
        </p:txBody>
      </p:sp>
      <p:sp>
        <p:nvSpPr>
          <p:cNvPr id="15" name="TextBox 14"/>
          <p:cNvSpPr txBox="1"/>
          <p:nvPr/>
        </p:nvSpPr>
        <p:spPr>
          <a:xfrm>
            <a:off x="6876288" y="4242816"/>
            <a:ext cx="214884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5B8DEF"/>
                </a:solidFill>
                <a:latin typeface="Cambria"/>
              </a:rPr>
              <a:t>-0.12</a:t>
            </a:r>
          </a:p>
        </p:txBody>
      </p:sp>
      <p:sp>
        <p:nvSpPr>
          <p:cNvPr id="16" name="TextBox 15"/>
          <p:cNvSpPr txBox="1"/>
          <p:nvPr/>
        </p:nvSpPr>
        <p:spPr>
          <a:xfrm>
            <a:off x="6876288" y="5303520"/>
            <a:ext cx="214884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1E2761"/>
                </a:solidFill>
                <a:latin typeface="Calibri"/>
              </a:rPr>
              <a:t>beta -0.03</a:t>
            </a:r>
          </a:p>
        </p:txBody>
      </p:sp>
      <p:sp>
        <p:nvSpPr>
          <p:cNvPr id="17" name="Rounded Rectangle 16"/>
          <p:cNvSpPr/>
          <p:nvPr/>
        </p:nvSpPr>
        <p:spPr>
          <a:xfrm>
            <a:off x="9372600" y="3840480"/>
            <a:ext cx="2514600" cy="1828800"/>
          </a:xfrm>
          <a:prstGeom prst="roundRect">
            <a:avLst>
              <a:gd name="adj" fmla="val 8000"/>
            </a:avLst>
          </a:prstGeom>
          <a:solidFill>
            <a:srgbClr val="F4F6FB"/>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73768" y="3986784"/>
            <a:ext cx="214884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5A5A5A"/>
                </a:solidFill>
                <a:latin typeface="Calibri"/>
              </a:rPr>
              <a:t>HOLD-OUT MAX DD</a:t>
            </a:r>
          </a:p>
        </p:txBody>
      </p:sp>
      <p:sp>
        <p:nvSpPr>
          <p:cNvPr id="19" name="TextBox 18"/>
          <p:cNvSpPr txBox="1"/>
          <p:nvPr/>
        </p:nvSpPr>
        <p:spPr>
          <a:xfrm>
            <a:off x="9573768" y="4242816"/>
            <a:ext cx="214884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2C8C5A"/>
                </a:solidFill>
                <a:latin typeface="Cambria"/>
              </a:rPr>
              <a:t>-26.7%</a:t>
            </a:r>
          </a:p>
        </p:txBody>
      </p:sp>
      <p:sp>
        <p:nvSpPr>
          <p:cNvPr id="20" name="TextBox 19"/>
          <p:cNvSpPr txBox="1"/>
          <p:nvPr/>
        </p:nvSpPr>
        <p:spPr>
          <a:xfrm>
            <a:off x="9573768" y="5303520"/>
            <a:ext cx="214884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1E2761"/>
                </a:solidFill>
                <a:latin typeface="Calibri"/>
              </a:rPr>
              <a:t>BTC -53.1%</a:t>
            </a:r>
          </a:p>
        </p:txBody>
      </p:sp>
      <p:sp>
        <p:nvSpPr>
          <p:cNvPr id="21" name="TextBox 20"/>
          <p:cNvSpPr txBox="1"/>
          <p:nvPr/>
        </p:nvSpPr>
        <p:spPr>
          <a:xfrm>
            <a:off x="640080" y="64008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1">
                <a:solidFill>
                  <a:srgbClr val="5A5A5A"/>
                </a:solidFill>
                <a:latin typeface="Calibri"/>
              </a:rPr>
              <a:t>Sharpe = mean / std x sqrt(252). Momentum at 20 bps, reversal at 7 bps; all-at-20-bps results in the report.</a:t>
            </a:r>
          </a:p>
        </p:txBody>
      </p:sp>
      <p:sp>
        <p:nvSpPr>
          <p:cNvPr id="22" name="TextBox 21"/>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B8DEF"/>
                </a:solidFill>
                <a:latin typeface="Calibri"/>
              </a:rPr>
              <a:t>VERSION 2</a:t>
            </a:r>
          </a:p>
        </p:txBody>
      </p:sp>
      <p:sp>
        <p:nvSpPr>
          <p:cNvPr id="3" name="TextBox 2"/>
          <p:cNvSpPr txBox="1"/>
          <p:nvPr/>
        </p:nvSpPr>
        <p:spPr>
          <a:xfrm>
            <a:off x="640080" y="73152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What changed from V1 to V2</a:t>
            </a:r>
          </a:p>
        </p:txBody>
      </p:sp>
      <p:sp>
        <p:nvSpPr>
          <p:cNvPr id="4" name="Rectangle 3"/>
          <p:cNvSpPr/>
          <p:nvPr/>
        </p:nvSpPr>
        <p:spPr>
          <a:xfrm>
            <a:off x="640080" y="1737360"/>
            <a:ext cx="3291840" cy="685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37360"/>
            <a:ext cx="3182112" cy="6858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FFFFFF"/>
                </a:solidFill>
                <a:latin typeface="Calibri"/>
              </a:rPr>
              <a:t>V1</a:t>
            </a:r>
          </a:p>
        </p:txBody>
      </p:sp>
      <p:sp>
        <p:nvSpPr>
          <p:cNvPr id="6" name="Rectangle 5"/>
          <p:cNvSpPr/>
          <p:nvPr/>
        </p:nvSpPr>
        <p:spPr>
          <a:xfrm>
            <a:off x="3931920" y="1737360"/>
            <a:ext cx="4206240" cy="685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0" y="1737360"/>
            <a:ext cx="420624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Calibri"/>
              </a:rPr>
              <a:t>V2</a:t>
            </a:r>
          </a:p>
        </p:txBody>
      </p:sp>
      <p:sp>
        <p:nvSpPr>
          <p:cNvPr id="8" name="Rectangle 7"/>
          <p:cNvSpPr/>
          <p:nvPr/>
        </p:nvSpPr>
        <p:spPr>
          <a:xfrm>
            <a:off x="8138159" y="1737360"/>
            <a:ext cx="3383280" cy="685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59" y="1737360"/>
            <a:ext cx="338328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Calibri"/>
              </a:rPr>
              <a:t>Effect</a:t>
            </a:r>
          </a:p>
        </p:txBody>
      </p:sp>
      <p:sp>
        <p:nvSpPr>
          <p:cNvPr id="10" name="Rectangle 9"/>
          <p:cNvSpPr/>
          <p:nvPr/>
        </p:nvSpPr>
        <p:spPr>
          <a:xfrm>
            <a:off x="640080" y="2423160"/>
            <a:ext cx="3291840" cy="685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423160"/>
            <a:ext cx="3182112" cy="6858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333333"/>
                </a:solidFill>
                <a:latin typeface="Calibri"/>
              </a:rPr>
              <a:t>Sharpe with sqrt(365)</a:t>
            </a:r>
          </a:p>
        </p:txBody>
      </p:sp>
      <p:sp>
        <p:nvSpPr>
          <p:cNvPr id="12" name="Rectangle 11"/>
          <p:cNvSpPr/>
          <p:nvPr/>
        </p:nvSpPr>
        <p:spPr>
          <a:xfrm>
            <a:off x="3931920" y="2423160"/>
            <a:ext cx="4206240" cy="685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2423160"/>
            <a:ext cx="420624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mean / std x sqrt(252) everywhere</a:t>
            </a:r>
          </a:p>
        </p:txBody>
      </p:sp>
      <p:sp>
        <p:nvSpPr>
          <p:cNvPr id="14" name="Rectangle 13"/>
          <p:cNvSpPr/>
          <p:nvPr/>
        </p:nvSpPr>
        <p:spPr>
          <a:xfrm>
            <a:off x="8138159" y="2423160"/>
            <a:ext cx="3383280" cy="685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59" y="2423160"/>
            <a:ext cx="338328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V1 1.02 -&gt; 0.85</a:t>
            </a:r>
          </a:p>
        </p:txBody>
      </p:sp>
      <p:sp>
        <p:nvSpPr>
          <p:cNvPr id="16" name="Rectangle 15"/>
          <p:cNvSpPr/>
          <p:nvPr/>
        </p:nvSpPr>
        <p:spPr>
          <a:xfrm>
            <a:off x="640080" y="3108960"/>
            <a:ext cx="329184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108960"/>
            <a:ext cx="3182112" cy="6858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333333"/>
                </a:solidFill>
                <a:latin typeface="Calibri"/>
              </a:rPr>
              <a:t>Exploration on full 2021-26 sample</a:t>
            </a:r>
          </a:p>
        </p:txBody>
      </p:sp>
      <p:sp>
        <p:nvSpPr>
          <p:cNvPr id="18" name="Rectangle 17"/>
          <p:cNvSpPr/>
          <p:nvPr/>
        </p:nvSpPr>
        <p:spPr>
          <a:xfrm>
            <a:off x="3931920" y="3108960"/>
            <a:ext cx="420624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31920" y="3108960"/>
            <a:ext cx="420624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Mechanical protocol on 2021-23 only</a:t>
            </a:r>
          </a:p>
        </p:txBody>
      </p:sp>
      <p:sp>
        <p:nvSpPr>
          <p:cNvPr id="20" name="Rectangle 19"/>
          <p:cNvSpPr/>
          <p:nvPr/>
        </p:nvSpPr>
        <p:spPr>
          <a:xfrm>
            <a:off x="8138159" y="3108960"/>
            <a:ext cx="338328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59" y="3108960"/>
            <a:ext cx="338328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True hold-out: 0.20</a:t>
            </a:r>
          </a:p>
        </p:txBody>
      </p:sp>
      <p:sp>
        <p:nvSpPr>
          <p:cNvPr id="22" name="Rectangle 21"/>
          <p:cNvSpPr/>
          <p:nvPr/>
        </p:nvSpPr>
        <p:spPr>
          <a:xfrm>
            <a:off x="640080" y="3794760"/>
            <a:ext cx="3291840" cy="685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794760"/>
            <a:ext cx="3182112" cy="6858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333333"/>
                </a:solidFill>
                <a:latin typeface="Calibri"/>
              </a:rPr>
              <a:t>Full sample first; no corr to BTC</a:t>
            </a:r>
          </a:p>
        </p:txBody>
      </p:sp>
      <p:sp>
        <p:nvSpPr>
          <p:cNvPr id="24" name="Rectangle 23"/>
          <p:cNvSpPr/>
          <p:nvPr/>
        </p:nvSpPr>
        <p:spPr>
          <a:xfrm>
            <a:off x="3931920" y="3794760"/>
            <a:ext cx="4206240" cy="685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0" y="3794760"/>
            <a:ext cx="420624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Hold-out first; corr to BTC in all tables</a:t>
            </a:r>
          </a:p>
        </p:txBody>
      </p:sp>
      <p:sp>
        <p:nvSpPr>
          <p:cNvPr id="26" name="Rectangle 25"/>
          <p:cNvSpPr/>
          <p:nvPr/>
        </p:nvSpPr>
        <p:spPr>
          <a:xfrm>
            <a:off x="8138159" y="3794760"/>
            <a:ext cx="3383280" cy="685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59" y="3794760"/>
            <a:ext cx="338328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alpha t 0.52, corr -0.12</a:t>
            </a:r>
          </a:p>
        </p:txBody>
      </p:sp>
      <p:sp>
        <p:nvSpPr>
          <p:cNvPr id="28" name="Rectangle 27"/>
          <p:cNvSpPr/>
          <p:nvPr/>
        </p:nvSpPr>
        <p:spPr>
          <a:xfrm>
            <a:off x="640080" y="4480560"/>
            <a:ext cx="329184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4480560"/>
            <a:ext cx="3182112" cy="6858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333333"/>
                </a:solidFill>
                <a:latin typeface="Calibri"/>
              </a:rPr>
              <a:t>16 coins alive in 2026</a:t>
            </a:r>
          </a:p>
        </p:txBody>
      </p:sp>
      <p:sp>
        <p:nvSpPr>
          <p:cNvPr id="30" name="Rectangle 29"/>
          <p:cNvSpPr/>
          <p:nvPr/>
        </p:nvSpPr>
        <p:spPr>
          <a:xfrm>
            <a:off x="3931920" y="4480560"/>
            <a:ext cx="420624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31920" y="4480560"/>
            <a:ext cx="420624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Top 40 by Jan-2021 market cap (39 with data)</a:t>
            </a:r>
          </a:p>
        </p:txBody>
      </p:sp>
      <p:sp>
        <p:nvSpPr>
          <p:cNvPr id="32" name="Rectangle 31"/>
          <p:cNvSpPr/>
          <p:nvPr/>
        </p:nvSpPr>
        <p:spPr>
          <a:xfrm>
            <a:off x="8138159" y="4480560"/>
            <a:ext cx="338328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59" y="4480560"/>
            <a:ext cx="338328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FTT, EOS, MKR exits included</a:t>
            </a:r>
          </a:p>
        </p:txBody>
      </p:sp>
      <p:sp>
        <p:nvSpPr>
          <p:cNvPr id="34" name="Rectangle 33"/>
          <p:cNvSpPr/>
          <p:nvPr/>
        </p:nvSpPr>
        <p:spPr>
          <a:xfrm>
            <a:off x="640080" y="5166360"/>
            <a:ext cx="3291840" cy="685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5166360"/>
            <a:ext cx="3182112" cy="6858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333333"/>
                </a:solidFill>
                <a:latin typeface="Calibri"/>
              </a:rPr>
              <a:t>No rebuild or methodology guide</a:t>
            </a:r>
          </a:p>
        </p:txBody>
      </p:sp>
      <p:sp>
        <p:nvSpPr>
          <p:cNvPr id="36" name="Rectangle 35"/>
          <p:cNvSpPr/>
          <p:nvPr/>
        </p:nvSpPr>
        <p:spPr>
          <a:xfrm>
            <a:off x="3931920" y="5166360"/>
            <a:ext cx="4206240" cy="685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1920" y="5166360"/>
            <a:ext cx="420624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60-line rebuild + methodology explainer</a:t>
            </a:r>
          </a:p>
        </p:txBody>
      </p:sp>
      <p:sp>
        <p:nvSpPr>
          <p:cNvPr id="38" name="Rectangle 37"/>
          <p:cNvSpPr/>
          <p:nvPr/>
        </p:nvSpPr>
        <p:spPr>
          <a:xfrm>
            <a:off x="8138159" y="5166360"/>
            <a:ext cx="3383280" cy="685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38159" y="5166360"/>
            <a:ext cx="3383280" cy="68580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Matches engine to 1e-12</a:t>
            </a:r>
          </a:p>
        </p:txBody>
      </p:sp>
      <p:sp>
        <p:nvSpPr>
          <p:cNvPr id="40" name="TextBox 39"/>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B8DEF"/>
                </a:solidFill>
                <a:latin typeface="Calibri"/>
              </a:rPr>
              <a:t>DATA</a:t>
            </a:r>
          </a:p>
        </p:txBody>
      </p:sp>
      <p:sp>
        <p:nvSpPr>
          <p:cNvPr id="3" name="TextBox 2"/>
          <p:cNvSpPr txBox="1"/>
          <p:nvPr/>
        </p:nvSpPr>
        <p:spPr>
          <a:xfrm>
            <a:off x="640080" y="73152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A survivorship-free universe, fixed in January 2021</a:t>
            </a:r>
          </a:p>
        </p:txBody>
      </p:sp>
      <p:sp>
        <p:nvSpPr>
          <p:cNvPr id="4" name="TextBox 3"/>
          <p:cNvSpPr txBox="1"/>
          <p:nvPr/>
        </p:nvSpPr>
        <p:spPr>
          <a:xfrm>
            <a:off x="640080" y="1783080"/>
            <a:ext cx="5577840" cy="4206240"/>
          </a:xfrm>
          <a:prstGeom prst="rect">
            <a:avLst/>
          </a:prstGeom>
          <a:noFill/>
        </p:spPr>
        <p:txBody>
          <a:bodyPr wrap="square" lIns="0" rIns="0" tIns="0" bIns="0">
            <a:spAutoFit/>
          </a:bodyPr>
          <a:lstStyle/>
          <a:p>
            <a:pPr>
              <a:lnSpc>
                <a:spcPct val="105000"/>
              </a:lnSpc>
              <a:spcBef>
                <a:spcPts val="0"/>
              </a:spcBef>
              <a:spcAft>
                <a:spcPts val="1000"/>
              </a:spcAft>
            </a:pPr>
            <a:r>
              <a:rPr sz="1450" b="1">
                <a:solidFill>
                  <a:srgbClr val="5B8DEF"/>
                </a:solidFill>
                <a:latin typeface="Calibri"/>
              </a:rPr>
              <a:t>-  </a:t>
            </a:r>
            <a:r>
              <a:rPr sz="1450" b="1">
                <a:solidFill>
                  <a:srgbClr val="1E2761"/>
                </a:solidFill>
                <a:latin typeface="Calibri"/>
              </a:rPr>
              <a:t>Rule: </a:t>
            </a:r>
            <a:r>
              <a:rPr sz="1450" b="0">
                <a:solidFill>
                  <a:srgbClr val="1E2761"/>
                </a:solidFill>
                <a:latin typeface="Calibri"/>
              </a:rPr>
              <a:t>the 40 largest coins on CoinMarketCap's 2021-01-03 snapshot, excluding stablecoins and wrapped tokens.</a:t>
            </a:r>
          </a:p>
          <a:p>
            <a:pPr>
              <a:lnSpc>
                <a:spcPct val="105000"/>
              </a:lnSpc>
              <a:spcBef>
                <a:spcPts val="0"/>
              </a:spcBef>
              <a:spcAft>
                <a:spcPts val="1000"/>
              </a:spcAft>
            </a:pPr>
            <a:r>
              <a:rPr sz="1450" b="1">
                <a:solidFill>
                  <a:srgbClr val="5B8DEF"/>
                </a:solidFill>
                <a:latin typeface="Calibri"/>
              </a:rPr>
              <a:t>-  </a:t>
            </a:r>
            <a:r>
              <a:rPr sz="1450" b="1">
                <a:solidFill>
                  <a:srgbClr val="1E2761"/>
                </a:solidFill>
                <a:latin typeface="Calibri"/>
              </a:rPr>
              <a:t>Never updated with hindsight: </a:t>
            </a:r>
            <a:r>
              <a:rPr sz="1450" b="0">
                <a:solidFill>
                  <a:srgbClr val="1E2761"/>
                </a:solidFill>
                <a:latin typeface="Calibri"/>
              </a:rPr>
              <a:t>coins stay in until their prices stop.</a:t>
            </a:r>
          </a:p>
          <a:p>
            <a:pPr>
              <a:lnSpc>
                <a:spcPct val="105000"/>
              </a:lnSpc>
              <a:spcBef>
                <a:spcPts val="0"/>
              </a:spcBef>
              <a:spcAft>
                <a:spcPts val="1000"/>
              </a:spcAft>
            </a:pPr>
            <a:r>
              <a:rPr sz="1450" b="1">
                <a:solidFill>
                  <a:srgbClr val="5B8DEF"/>
                </a:solidFill>
                <a:latin typeface="Calibri"/>
              </a:rPr>
              <a:t>-  </a:t>
            </a:r>
            <a:r>
              <a:rPr sz="1450" b="1">
                <a:solidFill>
                  <a:srgbClr val="1E2761"/>
                </a:solidFill>
                <a:latin typeface="Calibri"/>
              </a:rPr>
              <a:t>Failures included: </a:t>
            </a:r>
            <a:r>
              <a:rPr sz="1450" b="0">
                <a:solidFill>
                  <a:srgbClr val="1E2761"/>
                </a:solidFill>
                <a:latin typeface="Calibri"/>
              </a:rPr>
              <a:t>FTX Token (collapsed Nov-2022), EOS and MKR (history ends 2026).</a:t>
            </a:r>
          </a:p>
          <a:p>
            <a:pPr>
              <a:lnSpc>
                <a:spcPct val="105000"/>
              </a:lnSpc>
              <a:spcBef>
                <a:spcPts val="0"/>
              </a:spcBef>
              <a:spcAft>
                <a:spcPts val="1000"/>
              </a:spcAft>
            </a:pPr>
            <a:r>
              <a:rPr sz="1450" b="1">
                <a:solidFill>
                  <a:srgbClr val="5B8DEF"/>
                </a:solidFill>
                <a:latin typeface="Calibri"/>
              </a:rPr>
              <a:t>-  </a:t>
            </a:r>
            <a:r>
              <a:rPr sz="1450" b="1">
                <a:solidFill>
                  <a:srgbClr val="1E2761"/>
                </a:solidFill>
                <a:latin typeface="Calibri"/>
              </a:rPr>
              <a:t>Sources: </a:t>
            </a:r>
            <a:r>
              <a:rPr sz="1450" b="0">
                <a:solidFill>
                  <a:srgbClr val="1E2761"/>
                </a:solidFill>
                <a:latin typeface="Calibri"/>
              </a:rPr>
              <a:t>Coinbase, KuCoin, Gate.io, Bitfinex - the most complete history per coin; Bitfinex keeps delisted pairs.</a:t>
            </a:r>
          </a:p>
          <a:p>
            <a:pPr>
              <a:lnSpc>
                <a:spcPct val="105000"/>
              </a:lnSpc>
              <a:spcBef>
                <a:spcPts val="0"/>
              </a:spcBef>
              <a:spcAft>
                <a:spcPts val="1000"/>
              </a:spcAft>
            </a:pPr>
            <a:r>
              <a:rPr sz="1450" b="1">
                <a:solidFill>
                  <a:srgbClr val="5B8DEF"/>
                </a:solidFill>
                <a:latin typeface="Calibri"/>
              </a:rPr>
              <a:t>-  </a:t>
            </a:r>
            <a:r>
              <a:rPr sz="1450" b="1">
                <a:solidFill>
                  <a:srgbClr val="1E2761"/>
                </a:solidFill>
                <a:latin typeface="Calibri"/>
              </a:rPr>
              <a:t>Missing: </a:t>
            </a:r>
            <a:r>
              <a:rPr sz="1450" b="0">
                <a:solidFill>
                  <a:srgbClr val="1E2761"/>
                </a:solidFill>
                <a:latin typeface="Calibri"/>
              </a:rPr>
              <a:t>Revain (no free price history).</a:t>
            </a:r>
          </a:p>
        </p:txBody>
      </p:sp>
      <p:sp>
        <p:nvSpPr>
          <p:cNvPr id="5" name="Rounded Rectangle 4"/>
          <p:cNvSpPr/>
          <p:nvPr/>
        </p:nvSpPr>
        <p:spPr>
          <a:xfrm>
            <a:off x="6492240" y="1783080"/>
            <a:ext cx="2423160" cy="1188720"/>
          </a:xfrm>
          <a:prstGeom prst="roundRect">
            <a:avLst>
              <a:gd name="adj" fmla="val 10000"/>
            </a:avLst>
          </a:prstGeom>
          <a:solidFill>
            <a:srgbClr val="1E2761"/>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93407" y="1920240"/>
            <a:ext cx="210312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FFFFF"/>
                </a:solidFill>
                <a:latin typeface="Cambria"/>
              </a:rPr>
              <a:t>39</a:t>
            </a:r>
          </a:p>
        </p:txBody>
      </p:sp>
      <p:sp>
        <p:nvSpPr>
          <p:cNvPr id="7" name="TextBox 6"/>
          <p:cNvSpPr txBox="1"/>
          <p:nvPr/>
        </p:nvSpPr>
        <p:spPr>
          <a:xfrm>
            <a:off x="6693407" y="2560320"/>
            <a:ext cx="210312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CADCFC"/>
                </a:solidFill>
                <a:latin typeface="Calibri"/>
              </a:rPr>
              <a:t>COINS TRADED</a:t>
            </a:r>
          </a:p>
        </p:txBody>
      </p:sp>
      <p:sp>
        <p:nvSpPr>
          <p:cNvPr id="8" name="Rounded Rectangle 7"/>
          <p:cNvSpPr/>
          <p:nvPr/>
        </p:nvSpPr>
        <p:spPr>
          <a:xfrm>
            <a:off x="9098280" y="1783080"/>
            <a:ext cx="2423160" cy="1188720"/>
          </a:xfrm>
          <a:prstGeom prst="roundRect">
            <a:avLst>
              <a:gd name="adj" fmla="val 10000"/>
            </a:avLst>
          </a:prstGeom>
          <a:solidFill>
            <a:srgbClr val="1E2761"/>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99448" y="1920240"/>
            <a:ext cx="210312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FFFFF"/>
                </a:solidFill>
                <a:latin typeface="Cambria"/>
              </a:rPr>
              <a:t>40</a:t>
            </a:r>
          </a:p>
        </p:txBody>
      </p:sp>
      <p:sp>
        <p:nvSpPr>
          <p:cNvPr id="10" name="TextBox 9"/>
          <p:cNvSpPr txBox="1"/>
          <p:nvPr/>
        </p:nvSpPr>
        <p:spPr>
          <a:xfrm>
            <a:off x="9299448" y="2560320"/>
            <a:ext cx="210312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CADCFC"/>
                </a:solidFill>
                <a:latin typeface="Calibri"/>
              </a:rPr>
              <a:t>TOP BY MARKET CAP</a:t>
            </a:r>
          </a:p>
        </p:txBody>
      </p:sp>
      <p:sp>
        <p:nvSpPr>
          <p:cNvPr id="11" name="Rounded Rectangle 10"/>
          <p:cNvSpPr/>
          <p:nvPr/>
        </p:nvSpPr>
        <p:spPr>
          <a:xfrm>
            <a:off x="6492240" y="3154680"/>
            <a:ext cx="2423160" cy="1188720"/>
          </a:xfrm>
          <a:prstGeom prst="roundRect">
            <a:avLst>
              <a:gd name="adj" fmla="val 10000"/>
            </a:avLst>
          </a:prstGeom>
          <a:solidFill>
            <a:srgbClr val="1E2761"/>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93407" y="3291840"/>
            <a:ext cx="210312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FFFFF"/>
                </a:solidFill>
                <a:latin typeface="Cambria"/>
              </a:rPr>
              <a:t>3</a:t>
            </a:r>
          </a:p>
        </p:txBody>
      </p:sp>
      <p:sp>
        <p:nvSpPr>
          <p:cNvPr id="13" name="TextBox 12"/>
          <p:cNvSpPr txBox="1"/>
          <p:nvPr/>
        </p:nvSpPr>
        <p:spPr>
          <a:xfrm>
            <a:off x="6693407" y="3931920"/>
            <a:ext cx="210312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CADCFC"/>
                </a:solidFill>
                <a:latin typeface="Calibri"/>
              </a:rPr>
              <a:t>EXITS DURING SAMPLE</a:t>
            </a:r>
          </a:p>
        </p:txBody>
      </p:sp>
      <p:sp>
        <p:nvSpPr>
          <p:cNvPr id="14" name="Rounded Rectangle 13"/>
          <p:cNvSpPr/>
          <p:nvPr/>
        </p:nvSpPr>
        <p:spPr>
          <a:xfrm>
            <a:off x="9098280" y="3154680"/>
            <a:ext cx="2423160" cy="1188720"/>
          </a:xfrm>
          <a:prstGeom prst="roundRect">
            <a:avLst>
              <a:gd name="adj" fmla="val 10000"/>
            </a:avLst>
          </a:prstGeom>
          <a:solidFill>
            <a:srgbClr val="1E2761"/>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9448" y="3291840"/>
            <a:ext cx="210312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FFFFF"/>
                </a:solidFill>
                <a:latin typeface="Cambria"/>
              </a:rPr>
              <a:t>4</a:t>
            </a:r>
          </a:p>
        </p:txBody>
      </p:sp>
      <p:sp>
        <p:nvSpPr>
          <p:cNvPr id="16" name="TextBox 15"/>
          <p:cNvSpPr txBox="1"/>
          <p:nvPr/>
        </p:nvSpPr>
        <p:spPr>
          <a:xfrm>
            <a:off x="9299448" y="3931920"/>
            <a:ext cx="210312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CADCFC"/>
                </a:solidFill>
                <a:latin typeface="Calibri"/>
              </a:rPr>
              <a:t>DATA VENUES</a:t>
            </a:r>
          </a:p>
        </p:txBody>
      </p:sp>
      <p:sp>
        <p:nvSpPr>
          <p:cNvPr id="17" name="Rounded Rectangle 16"/>
          <p:cNvSpPr/>
          <p:nvPr/>
        </p:nvSpPr>
        <p:spPr>
          <a:xfrm>
            <a:off x="6492240" y="4617720"/>
            <a:ext cx="5029200" cy="1463040"/>
          </a:xfrm>
          <a:prstGeom prst="roundRect">
            <a:avLst>
              <a:gd name="adj" fmla="val 8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4709160"/>
            <a:ext cx="4663440"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5B8DEF"/>
                </a:solidFill>
                <a:latin typeface="Calibri"/>
              </a:rPr>
              <a:t>UNIVERSE</a:t>
            </a:r>
          </a:p>
        </p:txBody>
      </p:sp>
      <p:sp>
        <p:nvSpPr>
          <p:cNvPr id="19" name="TextBox 18"/>
          <p:cNvSpPr txBox="1"/>
          <p:nvPr/>
        </p:nvSpPr>
        <p:spPr>
          <a:xfrm>
            <a:off x="6720840" y="4983480"/>
            <a:ext cx="4663440" cy="1097280"/>
          </a:xfrm>
          <a:prstGeom prst="rect">
            <a:avLst/>
          </a:prstGeom>
          <a:noFill/>
        </p:spPr>
        <p:txBody>
          <a:bodyPr wrap="square" anchor="t" lIns="0" rIns="0" tIns="0" bIns="0">
            <a:spAutoFit/>
          </a:bodyPr>
          <a:lstStyle/>
          <a:p>
            <a:pPr algn="l">
              <a:lnSpc>
                <a:spcPct val="115000"/>
              </a:lnSpc>
              <a:spcBef>
                <a:spcPts val="0"/>
              </a:spcBef>
              <a:spcAft>
                <a:spcPts val="400"/>
              </a:spcAft>
            </a:pPr>
            <a:r>
              <a:rPr sz="1150" b="0" i="0">
                <a:solidFill>
                  <a:srgbClr val="1E2761"/>
                </a:solidFill>
                <a:latin typeface="Calibri"/>
              </a:rPr>
              <a:t>BTC ETH LTC XRP DOT BCH ADA BNB LINK BSV XLM EOS XMR THETA TRX XEM VET XTZ CEL UNI LEO CRO DOGE ATOM NEO AAVE SNX HT FIL DASH IOTA ETC ZIL YFI MKR FTT COMP ZEC SUSHI</a:t>
            </a:r>
          </a:p>
        </p:txBody>
      </p:sp>
      <p:sp>
        <p:nvSpPr>
          <p:cNvPr id="20" name="TextBox 19"/>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640080" y="45720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CADCFC"/>
                </a:solidFill>
                <a:latin typeface="Calibri"/>
              </a:rPr>
              <a:t>PRE-REGISTERED PROTOCOL</a:t>
            </a:r>
          </a:p>
        </p:txBody>
      </p:sp>
      <p:sp>
        <p:nvSpPr>
          <p:cNvPr id="3" name="TextBox 2"/>
          <p:cNvSpPr txBox="1"/>
          <p:nvPr/>
        </p:nvSpPr>
        <p:spPr>
          <a:xfrm>
            <a:off x="640080" y="77724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200" b="1" i="0">
                <a:solidFill>
                  <a:srgbClr val="FFFFFF"/>
                </a:solidFill>
                <a:latin typeface="Cambria"/>
              </a:rPr>
              <a:t>Every decision made on 2021-2023, mechanically</a:t>
            </a:r>
          </a:p>
        </p:txBody>
      </p:sp>
      <p:sp>
        <p:nvSpPr>
          <p:cNvPr id="4" name="Oval 3"/>
          <p:cNvSpPr/>
          <p:nvPr/>
        </p:nvSpPr>
        <p:spPr>
          <a:xfrm>
            <a:off x="640080" y="1874519"/>
            <a:ext cx="640080" cy="640080"/>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74519"/>
            <a:ext cx="64008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2200" b="1" i="0">
                <a:solidFill>
                  <a:srgbClr val="FFFFFF"/>
                </a:solidFill>
                <a:latin typeface="Cambria"/>
              </a:rPr>
              <a:t>1</a:t>
            </a:r>
          </a:p>
        </p:txBody>
      </p:sp>
      <p:sp>
        <p:nvSpPr>
          <p:cNvPr id="6" name="TextBox 5"/>
          <p:cNvSpPr txBox="1"/>
          <p:nvPr/>
        </p:nvSpPr>
        <p:spPr>
          <a:xfrm>
            <a:off x="1554480" y="1920239"/>
            <a:ext cx="2926080" cy="457200"/>
          </a:xfrm>
          <a:prstGeom prst="rect">
            <a:avLst/>
          </a:prstGeom>
          <a:noFill/>
        </p:spPr>
        <p:txBody>
          <a:bodyPr wrap="square" anchor="t" lIns="0" rIns="0" tIns="0" bIns="0">
            <a:spAutoFit/>
          </a:bodyPr>
          <a:lstStyle/>
          <a:p>
            <a:pPr algn="l">
              <a:lnSpc>
                <a:spcPct val="100000"/>
              </a:lnSpc>
              <a:spcBef>
                <a:spcPts val="0"/>
              </a:spcBef>
              <a:spcAft>
                <a:spcPts val="400"/>
              </a:spcAft>
            </a:pPr>
            <a:r>
              <a:rPr sz="1900" b="1" i="0">
                <a:solidFill>
                  <a:srgbClr val="FFFFFF"/>
                </a:solidFill>
                <a:latin typeface="Cambria"/>
              </a:rPr>
              <a:t>Signals</a:t>
            </a:r>
          </a:p>
        </p:txBody>
      </p:sp>
      <p:sp>
        <p:nvSpPr>
          <p:cNvPr id="7" name="TextBox 6"/>
          <p:cNvSpPr txBox="1"/>
          <p:nvPr/>
        </p:nvSpPr>
        <p:spPr>
          <a:xfrm>
            <a:off x="4480560" y="1947672"/>
            <a:ext cx="7223760" cy="640080"/>
          </a:xfrm>
          <a:prstGeom prst="rect">
            <a:avLst/>
          </a:prstGeom>
          <a:noFill/>
        </p:spPr>
        <p:txBody>
          <a:bodyPr wrap="square" anchor="t" lIns="0" rIns="0" tIns="0" bIns="0">
            <a:spAutoFit/>
          </a:bodyPr>
          <a:lstStyle/>
          <a:p>
            <a:pPr algn="l">
              <a:lnSpc>
                <a:spcPct val="100000"/>
              </a:lnSpc>
              <a:spcBef>
                <a:spcPts val="0"/>
              </a:spcBef>
              <a:spcAft>
                <a:spcPts val="400"/>
              </a:spcAft>
            </a:pPr>
            <a:r>
              <a:rPr sz="1450" b="0" i="0">
                <a:solidFill>
                  <a:srgbClr val="CADCFC"/>
                </a:solidFill>
                <a:latin typeface="Calibri"/>
              </a:rPr>
              <a:t>51 variants in 7 families: cross-sectional, time-series, theme, two residuals, high-vol, pairs</a:t>
            </a:r>
          </a:p>
        </p:txBody>
      </p:sp>
      <p:sp>
        <p:nvSpPr>
          <p:cNvPr id="8" name="Oval 7"/>
          <p:cNvSpPr/>
          <p:nvPr/>
        </p:nvSpPr>
        <p:spPr>
          <a:xfrm>
            <a:off x="640080" y="2788920"/>
            <a:ext cx="640080" cy="640080"/>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788920"/>
            <a:ext cx="64008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2200" b="1" i="0">
                <a:solidFill>
                  <a:srgbClr val="FFFFFF"/>
                </a:solidFill>
                <a:latin typeface="Cambria"/>
              </a:rPr>
              <a:t>2</a:t>
            </a:r>
          </a:p>
        </p:txBody>
      </p:sp>
      <p:sp>
        <p:nvSpPr>
          <p:cNvPr id="10" name="TextBox 9"/>
          <p:cNvSpPr txBox="1"/>
          <p:nvPr/>
        </p:nvSpPr>
        <p:spPr>
          <a:xfrm>
            <a:off x="1554480" y="2834639"/>
            <a:ext cx="2926080" cy="457200"/>
          </a:xfrm>
          <a:prstGeom prst="rect">
            <a:avLst/>
          </a:prstGeom>
          <a:noFill/>
        </p:spPr>
        <p:txBody>
          <a:bodyPr wrap="square" anchor="t" lIns="0" rIns="0" tIns="0" bIns="0">
            <a:spAutoFit/>
          </a:bodyPr>
          <a:lstStyle/>
          <a:p>
            <a:pPr algn="l">
              <a:lnSpc>
                <a:spcPct val="100000"/>
              </a:lnSpc>
              <a:spcBef>
                <a:spcPts val="0"/>
              </a:spcBef>
              <a:spcAft>
                <a:spcPts val="400"/>
              </a:spcAft>
            </a:pPr>
            <a:r>
              <a:rPr sz="1900" b="1" i="0">
                <a:solidFill>
                  <a:srgbClr val="FFFFFF"/>
                </a:solidFill>
                <a:latin typeface="Cambria"/>
              </a:rPr>
              <a:t>Direction</a:t>
            </a:r>
          </a:p>
        </p:txBody>
      </p:sp>
      <p:sp>
        <p:nvSpPr>
          <p:cNvPr id="11" name="TextBox 10"/>
          <p:cNvSpPr txBox="1"/>
          <p:nvPr/>
        </p:nvSpPr>
        <p:spPr>
          <a:xfrm>
            <a:off x="4480560" y="2862072"/>
            <a:ext cx="7223760" cy="640080"/>
          </a:xfrm>
          <a:prstGeom prst="rect">
            <a:avLst/>
          </a:prstGeom>
          <a:noFill/>
        </p:spPr>
        <p:txBody>
          <a:bodyPr wrap="square" anchor="t" lIns="0" rIns="0" tIns="0" bIns="0">
            <a:spAutoFit/>
          </a:bodyPr>
          <a:lstStyle/>
          <a:p>
            <a:pPr algn="l">
              <a:lnSpc>
                <a:spcPct val="100000"/>
              </a:lnSpc>
              <a:spcBef>
                <a:spcPts val="0"/>
              </a:spcBef>
              <a:spcAft>
                <a:spcPts val="400"/>
              </a:spcAft>
            </a:pPr>
            <a:r>
              <a:rPr sz="1450" b="0" i="0">
                <a:solidFill>
                  <a:srgbClr val="CADCFC"/>
                </a:solidFill>
                <a:latin typeface="Calibri"/>
              </a:rPr>
              <a:t>follow or fade each signal by the sign of its 2021-23 gross Sharpe</a:t>
            </a:r>
          </a:p>
        </p:txBody>
      </p:sp>
      <p:sp>
        <p:nvSpPr>
          <p:cNvPr id="12" name="Oval 11"/>
          <p:cNvSpPr/>
          <p:nvPr/>
        </p:nvSpPr>
        <p:spPr>
          <a:xfrm>
            <a:off x="640080" y="3703320"/>
            <a:ext cx="640080" cy="640080"/>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03320"/>
            <a:ext cx="64008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2200" b="1" i="0">
                <a:solidFill>
                  <a:srgbClr val="FFFFFF"/>
                </a:solidFill>
                <a:latin typeface="Cambria"/>
              </a:rPr>
              <a:t>3</a:t>
            </a:r>
          </a:p>
        </p:txBody>
      </p:sp>
      <p:sp>
        <p:nvSpPr>
          <p:cNvPr id="14" name="TextBox 13"/>
          <p:cNvSpPr txBox="1"/>
          <p:nvPr/>
        </p:nvSpPr>
        <p:spPr>
          <a:xfrm>
            <a:off x="1554480" y="3749039"/>
            <a:ext cx="2926080" cy="457200"/>
          </a:xfrm>
          <a:prstGeom prst="rect">
            <a:avLst/>
          </a:prstGeom>
          <a:noFill/>
        </p:spPr>
        <p:txBody>
          <a:bodyPr wrap="square" anchor="t" lIns="0" rIns="0" tIns="0" bIns="0">
            <a:spAutoFit/>
          </a:bodyPr>
          <a:lstStyle/>
          <a:p>
            <a:pPr algn="l">
              <a:lnSpc>
                <a:spcPct val="100000"/>
              </a:lnSpc>
              <a:spcBef>
                <a:spcPts val="0"/>
              </a:spcBef>
              <a:spcAft>
                <a:spcPts val="400"/>
              </a:spcAft>
            </a:pPr>
            <a:r>
              <a:rPr sz="1900" b="1" i="0">
                <a:solidFill>
                  <a:srgbClr val="FFFFFF"/>
                </a:solidFill>
                <a:latin typeface="Cambria"/>
              </a:rPr>
              <a:t>Candidates</a:t>
            </a:r>
          </a:p>
        </p:txBody>
      </p:sp>
      <p:sp>
        <p:nvSpPr>
          <p:cNvPr id="15" name="TextBox 14"/>
          <p:cNvSpPr txBox="1"/>
          <p:nvPr/>
        </p:nvSpPr>
        <p:spPr>
          <a:xfrm>
            <a:off x="4480560" y="3776472"/>
            <a:ext cx="7223760" cy="640080"/>
          </a:xfrm>
          <a:prstGeom prst="rect">
            <a:avLst/>
          </a:prstGeom>
          <a:noFill/>
        </p:spPr>
        <p:txBody>
          <a:bodyPr wrap="square" anchor="t" lIns="0" rIns="0" tIns="0" bIns="0">
            <a:spAutoFit/>
          </a:bodyPr>
          <a:lstStyle/>
          <a:p>
            <a:pPr algn="l">
              <a:lnSpc>
                <a:spcPct val="100000"/>
              </a:lnSpc>
              <a:spcBef>
                <a:spcPts val="0"/>
              </a:spcBef>
              <a:spcAft>
                <a:spcPts val="400"/>
              </a:spcAft>
            </a:pPr>
            <a:r>
              <a:rPr sz="1450" b="0" i="0">
                <a:solidFill>
                  <a:srgbClr val="CADCFC"/>
                </a:solidFill>
                <a:latin typeface="Calibri"/>
              </a:rPr>
              <a:t>cross with holding periods -&gt; 167 candidates at 20 bps (momentum) / 7 bps (reversal)</a:t>
            </a:r>
          </a:p>
        </p:txBody>
      </p:sp>
      <p:sp>
        <p:nvSpPr>
          <p:cNvPr id="16" name="Oval 15"/>
          <p:cNvSpPr/>
          <p:nvPr/>
        </p:nvSpPr>
        <p:spPr>
          <a:xfrm>
            <a:off x="640080" y="4617720"/>
            <a:ext cx="640080" cy="640080"/>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617720"/>
            <a:ext cx="64008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2200" b="1" i="0">
                <a:solidFill>
                  <a:srgbClr val="FFFFFF"/>
                </a:solidFill>
                <a:latin typeface="Cambria"/>
              </a:rPr>
              <a:t>4</a:t>
            </a:r>
          </a:p>
        </p:txBody>
      </p:sp>
      <p:sp>
        <p:nvSpPr>
          <p:cNvPr id="18" name="TextBox 17"/>
          <p:cNvSpPr txBox="1"/>
          <p:nvPr/>
        </p:nvSpPr>
        <p:spPr>
          <a:xfrm>
            <a:off x="1554480" y="4663440"/>
            <a:ext cx="2926080" cy="457200"/>
          </a:xfrm>
          <a:prstGeom prst="rect">
            <a:avLst/>
          </a:prstGeom>
          <a:noFill/>
        </p:spPr>
        <p:txBody>
          <a:bodyPr wrap="square" anchor="t" lIns="0" rIns="0" tIns="0" bIns="0">
            <a:spAutoFit/>
          </a:bodyPr>
          <a:lstStyle/>
          <a:p>
            <a:pPr algn="l">
              <a:lnSpc>
                <a:spcPct val="100000"/>
              </a:lnSpc>
              <a:spcBef>
                <a:spcPts val="0"/>
              </a:spcBef>
              <a:spcAft>
                <a:spcPts val="400"/>
              </a:spcAft>
            </a:pPr>
            <a:r>
              <a:rPr sz="1900" b="1" i="0">
                <a:solidFill>
                  <a:srgbClr val="FFFFFF"/>
                </a:solidFill>
                <a:latin typeface="Cambria"/>
              </a:rPr>
              <a:t>Books</a:t>
            </a:r>
          </a:p>
        </p:txBody>
      </p:sp>
      <p:sp>
        <p:nvSpPr>
          <p:cNvPr id="19" name="TextBox 18"/>
          <p:cNvSpPr txBox="1"/>
          <p:nvPr/>
        </p:nvSpPr>
        <p:spPr>
          <a:xfrm>
            <a:off x="4480560" y="4690872"/>
            <a:ext cx="7223760" cy="640080"/>
          </a:xfrm>
          <a:prstGeom prst="rect">
            <a:avLst/>
          </a:prstGeom>
          <a:noFill/>
        </p:spPr>
        <p:txBody>
          <a:bodyPr wrap="square" anchor="t" lIns="0" rIns="0" tIns="0" bIns="0">
            <a:spAutoFit/>
          </a:bodyPr>
          <a:lstStyle/>
          <a:p>
            <a:pPr algn="l">
              <a:lnSpc>
                <a:spcPct val="100000"/>
              </a:lnSpc>
              <a:spcBef>
                <a:spcPts val="0"/>
              </a:spcBef>
              <a:spcAft>
                <a:spcPts val="400"/>
              </a:spcAft>
            </a:pPr>
            <a:r>
              <a:rPr sz="1450" b="0" i="0">
                <a:solidFill>
                  <a:srgbClr val="CADCFC"/>
                </a:solidFill>
                <a:latin typeface="Calibri"/>
              </a:rPr>
              <a:t>best variant per family if 2021-23 net Sharpe &gt; 0; top three families per book</a:t>
            </a:r>
          </a:p>
        </p:txBody>
      </p:sp>
      <p:sp>
        <p:nvSpPr>
          <p:cNvPr id="20" name="Oval 19"/>
          <p:cNvSpPr/>
          <p:nvPr/>
        </p:nvSpPr>
        <p:spPr>
          <a:xfrm>
            <a:off x="640080" y="5532120"/>
            <a:ext cx="640080" cy="640080"/>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532120"/>
            <a:ext cx="64008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2200" b="1" i="0">
                <a:solidFill>
                  <a:srgbClr val="FFFFFF"/>
                </a:solidFill>
                <a:latin typeface="Cambria"/>
              </a:rPr>
              <a:t>5</a:t>
            </a:r>
          </a:p>
        </p:txBody>
      </p:sp>
      <p:sp>
        <p:nvSpPr>
          <p:cNvPr id="22" name="TextBox 21"/>
          <p:cNvSpPr txBox="1"/>
          <p:nvPr/>
        </p:nvSpPr>
        <p:spPr>
          <a:xfrm>
            <a:off x="1554480" y="5577840"/>
            <a:ext cx="2926080" cy="457200"/>
          </a:xfrm>
          <a:prstGeom prst="rect">
            <a:avLst/>
          </a:prstGeom>
          <a:noFill/>
        </p:spPr>
        <p:txBody>
          <a:bodyPr wrap="square" anchor="t" lIns="0" rIns="0" tIns="0" bIns="0">
            <a:spAutoFit/>
          </a:bodyPr>
          <a:lstStyle/>
          <a:p>
            <a:pPr algn="l">
              <a:lnSpc>
                <a:spcPct val="100000"/>
              </a:lnSpc>
              <a:spcBef>
                <a:spcPts val="0"/>
              </a:spcBef>
              <a:spcAft>
                <a:spcPts val="400"/>
              </a:spcAft>
            </a:pPr>
            <a:r>
              <a:rPr sz="1900" b="1" i="0">
                <a:solidFill>
                  <a:srgbClr val="FFFFFF"/>
                </a:solidFill>
                <a:latin typeface="Cambria"/>
              </a:rPr>
              <a:t>Execution + weights</a:t>
            </a:r>
          </a:p>
        </p:txBody>
      </p:sp>
      <p:sp>
        <p:nvSpPr>
          <p:cNvPr id="23" name="TextBox 22"/>
          <p:cNvSpPr txBox="1"/>
          <p:nvPr/>
        </p:nvSpPr>
        <p:spPr>
          <a:xfrm>
            <a:off x="4480560" y="5605272"/>
            <a:ext cx="7223760" cy="640080"/>
          </a:xfrm>
          <a:prstGeom prst="rect">
            <a:avLst/>
          </a:prstGeom>
          <a:noFill/>
        </p:spPr>
        <p:txBody>
          <a:bodyPr wrap="square" anchor="t" lIns="0" rIns="0" tIns="0" bIns="0">
            <a:spAutoFit/>
          </a:bodyPr>
          <a:lstStyle/>
          <a:p>
            <a:pPr algn="l">
              <a:lnSpc>
                <a:spcPct val="100000"/>
              </a:lnSpc>
              <a:spcBef>
                <a:spcPts val="0"/>
              </a:spcBef>
              <a:spcAft>
                <a:spcPts val="400"/>
              </a:spcAft>
            </a:pPr>
            <a:r>
              <a:rPr sz="1450" b="0" i="0">
                <a:solidFill>
                  <a:srgbClr val="CADCFC"/>
                </a:solidFill>
                <a:latin typeface="Calibri"/>
              </a:rPr>
              <a:t>chosen on 2021-23: no-trade band 2% / hold 3d (overlapping); inverse volatility</a:t>
            </a:r>
          </a:p>
        </p:txBody>
      </p:sp>
      <p:sp>
        <p:nvSpPr>
          <p:cNvPr id="24" name="TextBox 23"/>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B8DEF"/>
                </a:solidFill>
                <a:latin typeface="Calibri"/>
              </a:rPr>
              <a:t>TIME HORIZON</a:t>
            </a:r>
          </a:p>
        </p:txBody>
      </p:sp>
      <p:sp>
        <p:nvSpPr>
          <p:cNvPr id="3" name="TextBox 2"/>
          <p:cNvSpPr txBox="1"/>
          <p:nvPr/>
        </p:nvSpPr>
        <p:spPr>
          <a:xfrm>
            <a:off x="640080" y="73152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Cross-section reverses; individual coins trend at 1-4 weeks</a:t>
            </a:r>
          </a:p>
        </p:txBody>
      </p:sp>
      <p:pic>
        <p:nvPicPr>
          <p:cNvPr id="4" name="Picture 3" descr="A_horizon_scan.png"/>
          <p:cNvPicPr>
            <a:picLocks noChangeAspect="1"/>
          </p:cNvPicPr>
          <p:nvPr/>
        </p:nvPicPr>
        <p:blipFill>
          <a:blip r:embed="rId2"/>
          <a:stretch>
            <a:fillRect/>
          </a:stretch>
        </p:blipFill>
        <p:spPr>
          <a:xfrm>
            <a:off x="411480" y="1645920"/>
            <a:ext cx="7680960" cy="2816352"/>
          </a:xfrm>
          <a:prstGeom prst="rect">
            <a:avLst/>
          </a:prstGeom>
        </p:spPr>
      </p:pic>
      <p:sp>
        <p:nvSpPr>
          <p:cNvPr id="5" name="Rounded Rectangle 4"/>
          <p:cNvSpPr/>
          <p:nvPr/>
        </p:nvSpPr>
        <p:spPr>
          <a:xfrm>
            <a:off x="8275320" y="1737360"/>
            <a:ext cx="3291840" cy="1371600"/>
          </a:xfrm>
          <a:prstGeom prst="roundRect">
            <a:avLst>
              <a:gd name="adj" fmla="val 8000"/>
            </a:avLst>
          </a:prstGeom>
          <a:solidFill>
            <a:srgbClr val="F4F6FB"/>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76488" y="1883664"/>
            <a:ext cx="292608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5A5A5A"/>
                </a:solidFill>
                <a:latin typeface="Calibri"/>
              </a:rPr>
              <a:t>CS 1-DAY (RESEARCH)</a:t>
            </a:r>
          </a:p>
        </p:txBody>
      </p:sp>
      <p:sp>
        <p:nvSpPr>
          <p:cNvPr id="7" name="TextBox 6"/>
          <p:cNvSpPr txBox="1"/>
          <p:nvPr/>
        </p:nvSpPr>
        <p:spPr>
          <a:xfrm>
            <a:off x="8476488" y="2139696"/>
            <a:ext cx="292608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96167"/>
                </a:solidFill>
                <a:latin typeface="Cambria"/>
              </a:rPr>
              <a:t>-0.85</a:t>
            </a:r>
          </a:p>
        </p:txBody>
      </p:sp>
      <p:sp>
        <p:nvSpPr>
          <p:cNvPr id="8" name="TextBox 7"/>
          <p:cNvSpPr txBox="1"/>
          <p:nvPr/>
        </p:nvSpPr>
        <p:spPr>
          <a:xfrm>
            <a:off x="8476488" y="2743200"/>
            <a:ext cx="292608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1E2761"/>
                </a:solidFill>
                <a:latin typeface="Calibri"/>
              </a:rPr>
              <a:t>negative = reversal</a:t>
            </a:r>
          </a:p>
        </p:txBody>
      </p:sp>
      <p:sp>
        <p:nvSpPr>
          <p:cNvPr id="9" name="Rounded Rectangle 8"/>
          <p:cNvSpPr/>
          <p:nvPr/>
        </p:nvSpPr>
        <p:spPr>
          <a:xfrm>
            <a:off x="8275320" y="3246120"/>
            <a:ext cx="3291840" cy="1371600"/>
          </a:xfrm>
          <a:prstGeom prst="roundRect">
            <a:avLst>
              <a:gd name="adj" fmla="val 8000"/>
            </a:avLst>
          </a:prstGeom>
          <a:solidFill>
            <a:srgbClr val="F4F6FB"/>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76488" y="3392424"/>
            <a:ext cx="292608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5A5A5A"/>
                </a:solidFill>
                <a:latin typeface="Calibri"/>
              </a:rPr>
              <a:t>TS 30-DAY (RESEARCH)</a:t>
            </a:r>
          </a:p>
        </p:txBody>
      </p:sp>
      <p:sp>
        <p:nvSpPr>
          <p:cNvPr id="11" name="TextBox 10"/>
          <p:cNvSpPr txBox="1"/>
          <p:nvPr/>
        </p:nvSpPr>
        <p:spPr>
          <a:xfrm>
            <a:off x="8476488" y="3648456"/>
            <a:ext cx="292608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0.45</a:t>
            </a:r>
          </a:p>
        </p:txBody>
      </p:sp>
      <p:sp>
        <p:nvSpPr>
          <p:cNvPr id="12" name="TextBox 11"/>
          <p:cNvSpPr txBox="1"/>
          <p:nvPr/>
        </p:nvSpPr>
        <p:spPr>
          <a:xfrm>
            <a:off x="8476488" y="4251959"/>
            <a:ext cx="292608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1E2761"/>
                </a:solidFill>
                <a:latin typeface="Calibri"/>
              </a:rPr>
              <a:t>time-series momentum</a:t>
            </a:r>
          </a:p>
        </p:txBody>
      </p:sp>
      <p:sp>
        <p:nvSpPr>
          <p:cNvPr id="13" name="Rounded Rectangle 12"/>
          <p:cNvSpPr/>
          <p:nvPr/>
        </p:nvSpPr>
        <p:spPr>
          <a:xfrm>
            <a:off x="8275320" y="4754880"/>
            <a:ext cx="3291840" cy="1371600"/>
          </a:xfrm>
          <a:prstGeom prst="roundRect">
            <a:avLst>
              <a:gd name="adj" fmla="val 8000"/>
            </a:avLst>
          </a:prstGeom>
          <a:solidFill>
            <a:srgbClr val="F4F6FB"/>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76488" y="4901184"/>
            <a:ext cx="292608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5A5A5A"/>
                </a:solidFill>
                <a:latin typeface="Calibri"/>
              </a:rPr>
              <a:t>1-HOUR CS (RESEARCH)</a:t>
            </a:r>
          </a:p>
        </p:txBody>
      </p:sp>
      <p:sp>
        <p:nvSpPr>
          <p:cNvPr id="15" name="TextBox 14"/>
          <p:cNvSpPr txBox="1"/>
          <p:nvPr/>
        </p:nvSpPr>
        <p:spPr>
          <a:xfrm>
            <a:off x="8476488" y="5157216"/>
            <a:ext cx="292608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E6A817"/>
                </a:solidFill>
                <a:latin typeface="Cambria"/>
              </a:rPr>
              <a:t>-8.99</a:t>
            </a:r>
          </a:p>
        </p:txBody>
      </p:sp>
      <p:sp>
        <p:nvSpPr>
          <p:cNvPr id="16" name="TextBox 15"/>
          <p:cNvSpPr txBox="1"/>
          <p:nvPr/>
        </p:nvSpPr>
        <p:spPr>
          <a:xfrm>
            <a:off x="8476488" y="5760720"/>
            <a:ext cx="292608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1E2761"/>
                </a:solidFill>
                <a:latin typeface="Calibri"/>
              </a:rPr>
              <a:t>reversal, partly bid-ask bounce</a:t>
            </a:r>
          </a:p>
        </p:txBody>
      </p:sp>
      <p:sp>
        <p:nvSpPr>
          <p:cNvPr id="17" name="TextBox 16"/>
          <p:cNvSpPr txBox="1"/>
          <p:nvPr/>
        </p:nvSpPr>
        <p:spPr>
          <a:xfrm>
            <a:off x="640080" y="64008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1">
                <a:solidFill>
                  <a:srgbClr val="5A5A5A"/>
                </a:solidFill>
                <a:latin typeface="Calibri"/>
              </a:rPr>
              <a:t>Dark bars drive decisions; light bars (hold-out) shown for transparency only. 1-day reversal loses money net: -2.36 at 7 bps.</a:t>
            </a:r>
          </a:p>
        </p:txBody>
      </p:sp>
      <p:sp>
        <p:nvSpPr>
          <p:cNvPr id="18" name="TextBox 17"/>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B8DEF"/>
                </a:solidFill>
                <a:latin typeface="Calibri"/>
              </a:rPr>
              <a:t>ACTIVITY AND SEASONALITY</a:t>
            </a:r>
          </a:p>
        </p:txBody>
      </p:sp>
      <p:sp>
        <p:nvSpPr>
          <p:cNvPr id="3" name="TextBox 2"/>
          <p:cNvSpPr txBox="1"/>
          <p:nvPr/>
        </p:nvSpPr>
        <p:spPr>
          <a:xfrm>
            <a:off x="640080" y="73152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Weekends favour trends; volume shocks mark retracing spikes</a:t>
            </a:r>
          </a:p>
        </p:txBody>
      </p:sp>
      <p:pic>
        <p:nvPicPr>
          <p:cNvPr id="4" name="Picture 3" descr="B_activity_volume.png"/>
          <p:cNvPicPr>
            <a:picLocks noChangeAspect="1"/>
          </p:cNvPicPr>
          <p:nvPr/>
        </p:nvPicPr>
        <p:blipFill>
          <a:blip r:embed="rId2"/>
          <a:stretch>
            <a:fillRect/>
          </a:stretch>
        </p:blipFill>
        <p:spPr>
          <a:xfrm>
            <a:off x="411480" y="1645920"/>
            <a:ext cx="5760720" cy="2534716"/>
          </a:xfrm>
          <a:prstGeom prst="rect">
            <a:avLst/>
          </a:prstGeom>
        </p:spPr>
      </p:pic>
      <p:pic>
        <p:nvPicPr>
          <p:cNvPr id="5" name="Picture 4" descr="C_day_of_week.png"/>
          <p:cNvPicPr>
            <a:picLocks noChangeAspect="1"/>
          </p:cNvPicPr>
          <p:nvPr/>
        </p:nvPicPr>
        <p:blipFill>
          <a:blip r:embed="rId3"/>
          <a:stretch>
            <a:fillRect/>
          </a:stretch>
        </p:blipFill>
        <p:spPr>
          <a:xfrm>
            <a:off x="6172200" y="1645920"/>
            <a:ext cx="5760720" cy="2419502"/>
          </a:xfrm>
          <a:prstGeom prst="rect">
            <a:avLst/>
          </a:prstGeom>
        </p:spPr>
      </p:pic>
      <p:sp>
        <p:nvSpPr>
          <p:cNvPr id="6" name="TextBox 5"/>
          <p:cNvSpPr txBox="1"/>
          <p:nvPr/>
        </p:nvSpPr>
        <p:spPr>
          <a:xfrm>
            <a:off x="640080" y="4572000"/>
            <a:ext cx="5394960" cy="1737360"/>
          </a:xfrm>
          <a:prstGeom prst="rect">
            <a:avLst/>
          </a:prstGeom>
          <a:noFill/>
        </p:spPr>
        <p:txBody>
          <a:bodyPr wrap="square" lIns="0" rIns="0" tIns="0" bIns="0">
            <a:spAutoFit/>
          </a:bodyPr>
          <a:lstStyle/>
          <a:p>
            <a:pPr>
              <a:lnSpc>
                <a:spcPct val="105000"/>
              </a:lnSpc>
              <a:spcBef>
                <a:spcPts val="0"/>
              </a:spcBef>
              <a:spcAft>
                <a:spcPts val="800"/>
              </a:spcAft>
            </a:pPr>
            <a:r>
              <a:rPr sz="1300" b="1">
                <a:solidFill>
                  <a:srgbClr val="5B8DEF"/>
                </a:solidFill>
                <a:latin typeface="Calibri"/>
              </a:rPr>
              <a:t>-  </a:t>
            </a:r>
            <a:r>
              <a:rPr sz="1300">
                <a:solidFill>
                  <a:srgbClr val="1E2761"/>
                </a:solidFill>
                <a:latin typeface="Calibri"/>
              </a:rPr>
              <a:t>1-day reversal is stronger in high-activity coins (-1.07) than low-activity (-0.32) - the opposite of the uninformed-trading story.</a:t>
            </a:r>
          </a:p>
          <a:p>
            <a:pPr>
              <a:lnSpc>
                <a:spcPct val="105000"/>
              </a:lnSpc>
              <a:spcBef>
                <a:spcPts val="0"/>
              </a:spcBef>
              <a:spcAft>
                <a:spcPts val="800"/>
              </a:spcAft>
            </a:pPr>
            <a:r>
              <a:rPr sz="1300" b="1">
                <a:solidFill>
                  <a:srgbClr val="5B8DEF"/>
                </a:solidFill>
                <a:latin typeface="Calibri"/>
              </a:rPr>
              <a:t>-  </a:t>
            </a:r>
            <a:r>
              <a:rPr sz="1300">
                <a:solidFill>
                  <a:srgbClr val="1E2761"/>
                </a:solidFill>
                <a:latin typeface="Calibri"/>
              </a:rPr>
              <a:t>Volume-shock weighting tilts toward momentum but not enough to be profitable.</a:t>
            </a:r>
          </a:p>
        </p:txBody>
      </p:sp>
      <p:sp>
        <p:nvSpPr>
          <p:cNvPr id="7" name="TextBox 6"/>
          <p:cNvSpPr txBox="1"/>
          <p:nvPr/>
        </p:nvSpPr>
        <p:spPr>
          <a:xfrm>
            <a:off x="6400800" y="4572000"/>
            <a:ext cx="5303520" cy="1737360"/>
          </a:xfrm>
          <a:prstGeom prst="rect">
            <a:avLst/>
          </a:prstGeom>
          <a:noFill/>
        </p:spPr>
        <p:txBody>
          <a:bodyPr wrap="square" lIns="0" rIns="0" tIns="0" bIns="0">
            <a:spAutoFit/>
          </a:bodyPr>
          <a:lstStyle/>
          <a:p>
            <a:pPr>
              <a:lnSpc>
                <a:spcPct val="105000"/>
              </a:lnSpc>
              <a:spcBef>
                <a:spcPts val="0"/>
              </a:spcBef>
              <a:spcAft>
                <a:spcPts val="800"/>
              </a:spcAft>
            </a:pPr>
            <a:r>
              <a:rPr sz="1300" b="1">
                <a:solidFill>
                  <a:srgbClr val="5B8DEF"/>
                </a:solidFill>
                <a:latin typeface="Calibri"/>
              </a:rPr>
              <a:t>-  </a:t>
            </a:r>
            <a:r>
              <a:rPr sz="1300">
                <a:solidFill>
                  <a:srgbClr val="1E2761"/>
                </a:solidFill>
                <a:latin typeface="Calibri"/>
              </a:rPr>
              <a:t>TS momentum: weekend Sharpe 1.37 vs weekday 0.32.</a:t>
            </a:r>
          </a:p>
          <a:p>
            <a:pPr>
              <a:lnSpc>
                <a:spcPct val="105000"/>
              </a:lnSpc>
              <a:spcBef>
                <a:spcPts val="0"/>
              </a:spcBef>
              <a:spcAft>
                <a:spcPts val="800"/>
              </a:spcAft>
            </a:pPr>
            <a:r>
              <a:rPr sz="1300" b="1">
                <a:solidFill>
                  <a:srgbClr val="5B8DEF"/>
                </a:solidFill>
                <a:latin typeface="Calibri"/>
              </a:rPr>
              <a:t>-  </a:t>
            </a:r>
            <a:r>
              <a:rPr sz="1300">
                <a:solidFill>
                  <a:srgbClr val="1E2761"/>
                </a:solidFill>
                <a:latin typeface="Calibri"/>
              </a:rPr>
              <a:t>Tuesday is the worst day for trend-following in both versions.</a:t>
            </a:r>
          </a:p>
        </p:txBody>
      </p:sp>
      <p:sp>
        <p:nvSpPr>
          <p:cNvPr id="8" name="TextBox 7"/>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B8DEF"/>
                </a:solidFill>
                <a:latin typeface="Calibri"/>
              </a:rPr>
              <a:t>THEMES AND CORRELATION</a:t>
            </a:r>
          </a:p>
        </p:txBody>
      </p:sp>
      <p:sp>
        <p:nvSpPr>
          <p:cNvPr id="3" name="TextBox 2"/>
          <p:cNvSpPr txBox="1"/>
          <p:nvPr/>
        </p:nvSpPr>
        <p:spPr>
          <a:xfrm>
            <a:off x="640080" y="73152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What worked in 2021-23 did not all persist</a:t>
            </a:r>
          </a:p>
        </p:txBody>
      </p:sp>
      <p:pic>
        <p:nvPicPr>
          <p:cNvPr id="4" name="Picture 3" descr="D_theme_indices.png"/>
          <p:cNvPicPr>
            <a:picLocks noChangeAspect="1"/>
          </p:cNvPicPr>
          <p:nvPr/>
        </p:nvPicPr>
        <p:blipFill>
          <a:blip r:embed="rId2"/>
          <a:stretch>
            <a:fillRect/>
          </a:stretch>
        </p:blipFill>
        <p:spPr>
          <a:xfrm>
            <a:off x="411480" y="1645920"/>
            <a:ext cx="6035039" cy="2655417"/>
          </a:xfrm>
          <a:prstGeom prst="rect">
            <a:avLst/>
          </a:prstGeom>
        </p:spPr>
      </p:pic>
      <p:sp>
        <p:nvSpPr>
          <p:cNvPr id="5" name="Rectangle 4"/>
          <p:cNvSpPr/>
          <p:nvPr/>
        </p:nvSpPr>
        <p:spPr>
          <a:xfrm>
            <a:off x="6720840" y="1737360"/>
            <a:ext cx="274320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30568" y="1737360"/>
            <a:ext cx="2633472" cy="457200"/>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FFFFFF"/>
                </a:solidFill>
                <a:latin typeface="Calibri"/>
              </a:rPr>
              <a:t>Signal (momentum sign)</a:t>
            </a:r>
          </a:p>
        </p:txBody>
      </p:sp>
      <p:sp>
        <p:nvSpPr>
          <p:cNvPr id="7" name="Rectangle 6"/>
          <p:cNvSpPr/>
          <p:nvPr/>
        </p:nvSpPr>
        <p:spPr>
          <a:xfrm>
            <a:off x="9464040" y="1737360"/>
            <a:ext cx="100584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17373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Research</a:t>
            </a:r>
          </a:p>
        </p:txBody>
      </p:sp>
      <p:sp>
        <p:nvSpPr>
          <p:cNvPr id="9" name="Rectangle 8"/>
          <p:cNvSpPr/>
          <p:nvPr/>
        </p:nvSpPr>
        <p:spPr>
          <a:xfrm>
            <a:off x="10469880" y="1737360"/>
            <a:ext cx="100584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69880" y="17373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Hold-out</a:t>
            </a:r>
          </a:p>
        </p:txBody>
      </p:sp>
      <p:sp>
        <p:nvSpPr>
          <p:cNvPr id="11" name="Rectangle 10"/>
          <p:cNvSpPr/>
          <p:nvPr/>
        </p:nvSpPr>
        <p:spPr>
          <a:xfrm>
            <a:off x="6720840" y="2194560"/>
            <a:ext cx="274320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30568" y="2194560"/>
            <a:ext cx="2633472" cy="45720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333333"/>
                </a:solidFill>
                <a:latin typeface="Calibri"/>
              </a:rPr>
              <a:t>Theme 14d, hold 7d</a:t>
            </a:r>
          </a:p>
        </p:txBody>
      </p:sp>
      <p:sp>
        <p:nvSpPr>
          <p:cNvPr id="13" name="Rectangle 12"/>
          <p:cNvSpPr/>
          <p:nvPr/>
        </p:nvSpPr>
        <p:spPr>
          <a:xfrm>
            <a:off x="9464040" y="2194560"/>
            <a:ext cx="100584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64040" y="21945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1.10</a:t>
            </a:r>
          </a:p>
        </p:txBody>
      </p:sp>
      <p:sp>
        <p:nvSpPr>
          <p:cNvPr id="15" name="Rectangle 14"/>
          <p:cNvSpPr/>
          <p:nvPr/>
        </p:nvSpPr>
        <p:spPr>
          <a:xfrm>
            <a:off x="10469880" y="2194560"/>
            <a:ext cx="100584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69880" y="21945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0.10</a:t>
            </a:r>
          </a:p>
        </p:txBody>
      </p:sp>
      <p:sp>
        <p:nvSpPr>
          <p:cNvPr id="17" name="Rectangle 16"/>
          <p:cNvSpPr/>
          <p:nvPr/>
        </p:nvSpPr>
        <p:spPr>
          <a:xfrm>
            <a:off x="6720840" y="2651760"/>
            <a:ext cx="2743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0568" y="2651760"/>
            <a:ext cx="2633472" cy="45720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333333"/>
                </a:solidFill>
                <a:latin typeface="Calibri"/>
              </a:rPr>
              <a:t>Residual vs market 60d</a:t>
            </a:r>
          </a:p>
        </p:txBody>
      </p:sp>
      <p:sp>
        <p:nvSpPr>
          <p:cNvPr id="19" name="Rectangle 18"/>
          <p:cNvSpPr/>
          <p:nvPr/>
        </p:nvSpPr>
        <p:spPr>
          <a:xfrm>
            <a:off x="9464040" y="2651760"/>
            <a:ext cx="10058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64040" y="26517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-0.55</a:t>
            </a:r>
          </a:p>
        </p:txBody>
      </p:sp>
      <p:sp>
        <p:nvSpPr>
          <p:cNvPr id="21" name="Rectangle 20"/>
          <p:cNvSpPr/>
          <p:nvPr/>
        </p:nvSpPr>
        <p:spPr>
          <a:xfrm>
            <a:off x="10469880" y="2651760"/>
            <a:ext cx="10058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69880" y="26517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0.18</a:t>
            </a:r>
          </a:p>
        </p:txBody>
      </p:sp>
      <p:sp>
        <p:nvSpPr>
          <p:cNvPr id="23" name="Rectangle 22"/>
          <p:cNvSpPr/>
          <p:nvPr/>
        </p:nvSpPr>
        <p:spPr>
          <a:xfrm>
            <a:off x="6720840" y="3108960"/>
            <a:ext cx="274320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0568" y="3108960"/>
            <a:ext cx="2633472" cy="45720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333333"/>
                </a:solidFill>
                <a:latin typeface="Calibri"/>
              </a:rPr>
              <a:t>Residual vs theme 60d</a:t>
            </a:r>
          </a:p>
        </p:txBody>
      </p:sp>
      <p:sp>
        <p:nvSpPr>
          <p:cNvPr id="25" name="Rectangle 24"/>
          <p:cNvSpPr/>
          <p:nvPr/>
        </p:nvSpPr>
        <p:spPr>
          <a:xfrm>
            <a:off x="9464040" y="3108960"/>
            <a:ext cx="100584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64040" y="31089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-0.76</a:t>
            </a:r>
          </a:p>
        </p:txBody>
      </p:sp>
      <p:sp>
        <p:nvSpPr>
          <p:cNvPr id="27" name="Rectangle 26"/>
          <p:cNvSpPr/>
          <p:nvPr/>
        </p:nvSpPr>
        <p:spPr>
          <a:xfrm>
            <a:off x="10469880" y="3108960"/>
            <a:ext cx="100584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69880" y="31089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-0.15</a:t>
            </a:r>
          </a:p>
        </p:txBody>
      </p:sp>
      <p:sp>
        <p:nvSpPr>
          <p:cNvPr id="29" name="Rectangle 28"/>
          <p:cNvSpPr/>
          <p:nvPr/>
        </p:nvSpPr>
        <p:spPr>
          <a:xfrm>
            <a:off x="6720840" y="3566160"/>
            <a:ext cx="2743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30568" y="3566160"/>
            <a:ext cx="2633472" cy="45720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333333"/>
                </a:solidFill>
                <a:latin typeface="Calibri"/>
              </a:rPr>
              <a:t>Residual vs theme 1d</a:t>
            </a:r>
          </a:p>
        </p:txBody>
      </p:sp>
      <p:sp>
        <p:nvSpPr>
          <p:cNvPr id="31" name="Rectangle 30"/>
          <p:cNvSpPr/>
          <p:nvPr/>
        </p:nvSpPr>
        <p:spPr>
          <a:xfrm>
            <a:off x="9464040" y="3566160"/>
            <a:ext cx="10058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64040" y="35661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-1.19</a:t>
            </a:r>
          </a:p>
        </p:txBody>
      </p:sp>
      <p:sp>
        <p:nvSpPr>
          <p:cNvPr id="33" name="Rectangle 32"/>
          <p:cNvSpPr/>
          <p:nvPr/>
        </p:nvSpPr>
        <p:spPr>
          <a:xfrm>
            <a:off x="10469880" y="3566160"/>
            <a:ext cx="10058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69880" y="35661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-0.52</a:t>
            </a:r>
          </a:p>
        </p:txBody>
      </p:sp>
      <p:sp>
        <p:nvSpPr>
          <p:cNvPr id="35" name="Rectangle 34"/>
          <p:cNvSpPr/>
          <p:nvPr/>
        </p:nvSpPr>
        <p:spPr>
          <a:xfrm>
            <a:off x="6720840" y="4023360"/>
            <a:ext cx="274320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30568" y="4023360"/>
            <a:ext cx="2633472" cy="45720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333333"/>
                </a:solidFill>
                <a:latin typeface="Calibri"/>
              </a:rPr>
              <a:t>Cointegrated pairs</a:t>
            </a:r>
          </a:p>
        </p:txBody>
      </p:sp>
      <p:sp>
        <p:nvSpPr>
          <p:cNvPr id="37" name="Rectangle 36"/>
          <p:cNvSpPr/>
          <p:nvPr/>
        </p:nvSpPr>
        <p:spPr>
          <a:xfrm>
            <a:off x="9464040" y="4023360"/>
            <a:ext cx="100584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64040" y="40233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-0.46</a:t>
            </a:r>
          </a:p>
        </p:txBody>
      </p:sp>
      <p:sp>
        <p:nvSpPr>
          <p:cNvPr id="39" name="Rectangle 38"/>
          <p:cNvSpPr/>
          <p:nvPr/>
        </p:nvSpPr>
        <p:spPr>
          <a:xfrm>
            <a:off x="10469880" y="4023360"/>
            <a:ext cx="100584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69880" y="4023360"/>
            <a:ext cx="10058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1.10</a:t>
            </a:r>
          </a:p>
        </p:txBody>
      </p:sp>
      <p:sp>
        <p:nvSpPr>
          <p:cNvPr id="41" name="TextBox 40"/>
          <p:cNvSpPr txBox="1"/>
          <p:nvPr/>
        </p:nvSpPr>
        <p:spPr>
          <a:xfrm>
            <a:off x="640080" y="4892040"/>
            <a:ext cx="10972800" cy="1463040"/>
          </a:xfrm>
          <a:prstGeom prst="rect">
            <a:avLst/>
          </a:prstGeom>
          <a:noFill/>
        </p:spPr>
        <p:txBody>
          <a:bodyPr wrap="square" lIns="0" rIns="0" tIns="0" bIns="0">
            <a:spAutoFit/>
          </a:bodyPr>
          <a:lstStyle/>
          <a:p>
            <a:pPr>
              <a:lnSpc>
                <a:spcPct val="105000"/>
              </a:lnSpc>
              <a:spcBef>
                <a:spcPts val="0"/>
              </a:spcBef>
              <a:spcAft>
                <a:spcPts val="800"/>
              </a:spcAft>
            </a:pPr>
            <a:r>
              <a:rPr sz="1350" b="1">
                <a:solidFill>
                  <a:srgbClr val="5B8DEF"/>
                </a:solidFill>
                <a:latin typeface="Calibri"/>
              </a:rPr>
              <a:t>-  </a:t>
            </a:r>
            <a:r>
              <a:rPr sz="1350" b="1">
                <a:solidFill>
                  <a:srgbClr val="1E2761"/>
                </a:solidFill>
                <a:latin typeface="Calibri"/>
              </a:rPr>
              <a:t>Themes: </a:t>
            </a:r>
            <a:r>
              <a:rPr sz="1350" b="0">
                <a:solidFill>
                  <a:srgbClr val="1E2761"/>
                </a:solidFill>
                <a:latin typeface="Calibri"/>
              </a:rPr>
              <a:t>theme momentum was the best research-period momentum signal, then flattened in the hold-out.</a:t>
            </a:r>
          </a:p>
          <a:p>
            <a:pPr>
              <a:lnSpc>
                <a:spcPct val="105000"/>
              </a:lnSpc>
              <a:spcBef>
                <a:spcPts val="0"/>
              </a:spcBef>
              <a:spcAft>
                <a:spcPts val="800"/>
              </a:spcAft>
            </a:pPr>
            <a:r>
              <a:rPr sz="1350" b="1">
                <a:solidFill>
                  <a:srgbClr val="5B8DEF"/>
                </a:solidFill>
                <a:latin typeface="Calibri"/>
              </a:rPr>
              <a:t>-  </a:t>
            </a:r>
            <a:r>
              <a:rPr sz="1350" b="1">
                <a:solidFill>
                  <a:srgbClr val="1E2761"/>
                </a:solidFill>
                <a:latin typeface="Calibri"/>
              </a:rPr>
              <a:t>Correlation: </a:t>
            </a:r>
            <a:r>
              <a:rPr sz="1350" b="0">
                <a:solidFill>
                  <a:srgbClr val="1E2761"/>
                </a:solidFill>
                <a:latin typeface="Calibri"/>
              </a:rPr>
              <a:t>residuals reverse in 2021-23 (negative = reversal); pairs lost money then and worked later - unstable relationships.</a:t>
            </a:r>
          </a:p>
        </p:txBody>
      </p:sp>
      <p:sp>
        <p:nvSpPr>
          <p:cNvPr id="42" name="TextBox 41"/>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B8DEF"/>
                </a:solidFill>
                <a:latin typeface="Calibri"/>
              </a:rPr>
              <a:t>MACRO: VOLATILITY AND DISLOCATION</a:t>
            </a:r>
          </a:p>
        </p:txBody>
      </p:sp>
      <p:sp>
        <p:nvSpPr>
          <p:cNvPr id="3" name="TextBox 2"/>
          <p:cNvSpPr txBox="1"/>
          <p:nvPr/>
        </p:nvSpPr>
        <p:spPr>
          <a:xfrm>
            <a:off x="640080" y="73152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High implied vol breaks trends, in both periods</a:t>
            </a:r>
          </a:p>
        </p:txBody>
      </p:sp>
      <p:pic>
        <p:nvPicPr>
          <p:cNvPr id="4" name="Picture 3" descr="G_macro_regimes.png"/>
          <p:cNvPicPr>
            <a:picLocks noChangeAspect="1"/>
          </p:cNvPicPr>
          <p:nvPr/>
        </p:nvPicPr>
        <p:blipFill>
          <a:blip r:embed="rId2"/>
          <a:stretch>
            <a:fillRect/>
          </a:stretch>
        </p:blipFill>
        <p:spPr>
          <a:xfrm>
            <a:off x="365760" y="1600200"/>
            <a:ext cx="11430000" cy="3429000"/>
          </a:xfrm>
          <a:prstGeom prst="rect">
            <a:avLst/>
          </a:prstGeom>
        </p:spPr>
      </p:pic>
      <p:sp>
        <p:nvSpPr>
          <p:cNvPr id="5" name="Rounded Rectangle 4"/>
          <p:cNvSpPr/>
          <p:nvPr/>
        </p:nvSpPr>
        <p:spPr>
          <a:xfrm>
            <a:off x="640080" y="5074920"/>
            <a:ext cx="3566160" cy="1325880"/>
          </a:xfrm>
          <a:prstGeom prst="roundRect">
            <a:avLst>
              <a:gd name="adj" fmla="val 8000"/>
            </a:avLst>
          </a:prstGeom>
          <a:solidFill>
            <a:srgbClr val="F4F6FB"/>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5221224"/>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5A5A5A"/>
                </a:solidFill>
                <a:latin typeface="Calibri"/>
              </a:rPr>
              <a:t>TS MOMENTUM, DVOL LOW / HIGH (RESEARCH)</a:t>
            </a:r>
          </a:p>
        </p:txBody>
      </p:sp>
      <p:sp>
        <p:nvSpPr>
          <p:cNvPr id="7" name="TextBox 6"/>
          <p:cNvSpPr txBox="1"/>
          <p:nvPr/>
        </p:nvSpPr>
        <p:spPr>
          <a:xfrm>
            <a:off x="841247" y="5477256"/>
            <a:ext cx="3200400" cy="54864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1E2761"/>
                </a:solidFill>
                <a:latin typeface="Cambria"/>
              </a:rPr>
              <a:t>1.10 / -2.12</a:t>
            </a:r>
          </a:p>
        </p:txBody>
      </p:sp>
      <p:sp>
        <p:nvSpPr>
          <p:cNvPr id="8" name="TextBox 7"/>
          <p:cNvSpPr txBox="1"/>
          <p:nvPr/>
        </p:nvSpPr>
        <p:spPr>
          <a:xfrm>
            <a:off x="841247" y="6035040"/>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1E2761"/>
                </a:solidFill>
                <a:latin typeface="Calibri"/>
              </a:rPr>
              <a:t>gross Sharpe</a:t>
            </a:r>
          </a:p>
        </p:txBody>
      </p:sp>
      <p:sp>
        <p:nvSpPr>
          <p:cNvPr id="9" name="Rounded Rectangle 8"/>
          <p:cNvSpPr/>
          <p:nvPr/>
        </p:nvSpPr>
        <p:spPr>
          <a:xfrm>
            <a:off x="4343400" y="5074920"/>
            <a:ext cx="3566160" cy="1325880"/>
          </a:xfrm>
          <a:prstGeom prst="roundRect">
            <a:avLst>
              <a:gd name="adj" fmla="val 8000"/>
            </a:avLst>
          </a:prstGeom>
          <a:solidFill>
            <a:srgbClr val="F4F6FB"/>
          </a:solidFill>
          <a:ln>
            <a:noFill/>
          </a:ln>
          <a:effectLst>
            <a:outerShdw blurRad="90000" dist="38100" dir="5400000" rotWithShape="0">
              <a:srgbClr val="1E2761">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5221224"/>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5A5A5A"/>
                </a:solidFill>
                <a:latin typeface="Calibri"/>
              </a:rPr>
              <a:t>SAME, HOLD-OUT</a:t>
            </a:r>
          </a:p>
        </p:txBody>
      </p:sp>
      <p:sp>
        <p:nvSpPr>
          <p:cNvPr id="11" name="TextBox 10"/>
          <p:cNvSpPr txBox="1"/>
          <p:nvPr/>
        </p:nvSpPr>
        <p:spPr>
          <a:xfrm>
            <a:off x="4544568" y="5477256"/>
            <a:ext cx="3200400" cy="54864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2C8C5A"/>
                </a:solidFill>
                <a:latin typeface="Cambria"/>
              </a:rPr>
              <a:t>0.96 / -0.98</a:t>
            </a:r>
          </a:p>
        </p:txBody>
      </p:sp>
      <p:sp>
        <p:nvSpPr>
          <p:cNvPr id="12" name="TextBox 11"/>
          <p:cNvSpPr txBox="1"/>
          <p:nvPr/>
        </p:nvSpPr>
        <p:spPr>
          <a:xfrm>
            <a:off x="4544568" y="6035040"/>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1E2761"/>
                </a:solidFill>
                <a:latin typeface="Calibri"/>
              </a:rPr>
              <a:t>pattern repeats out of sample</a:t>
            </a:r>
          </a:p>
        </p:txBody>
      </p:sp>
      <p:sp>
        <p:nvSpPr>
          <p:cNvPr id="13" name="Rounded Rectangle 12"/>
          <p:cNvSpPr/>
          <p:nvPr/>
        </p:nvSpPr>
        <p:spPr>
          <a:xfrm>
            <a:off x="8046720" y="5074920"/>
            <a:ext cx="3520440" cy="132588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5166360"/>
            <a:ext cx="3154680" cy="114300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FFFFFF"/>
                </a:solidFill>
                <a:latin typeface="Calibri"/>
              </a:rPr>
              <a:t>The DVOL filter (trend-following off in the top third of implied vol) was selected on 2021-23 and is the component that held up.</a:t>
            </a:r>
          </a:p>
        </p:txBody>
      </p:sp>
      <p:sp>
        <p:nvSpPr>
          <p:cNvPr id="15" name="TextBox 14"/>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B8DEF"/>
                </a:solidFill>
                <a:latin typeface="Calibri"/>
              </a:rPr>
              <a:t>MECHANICAL SELECTION</a:t>
            </a:r>
          </a:p>
        </p:txBody>
      </p:sp>
      <p:sp>
        <p:nvSpPr>
          <p:cNvPr id="3" name="TextBox 2"/>
          <p:cNvSpPr txBox="1"/>
          <p:nvPr/>
        </p:nvSpPr>
        <p:spPr>
          <a:xfrm>
            <a:off x="640080" y="73152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Family winners on 2021-23, and how they did after</a:t>
            </a:r>
          </a:p>
        </p:txBody>
      </p:sp>
      <p:sp>
        <p:nvSpPr>
          <p:cNvPr id="4" name="Rectangle 3"/>
          <p:cNvSpPr/>
          <p:nvPr/>
        </p:nvSpPr>
        <p:spPr>
          <a:xfrm>
            <a:off x="640080" y="1691640"/>
            <a:ext cx="5120640" cy="42062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691640"/>
            <a:ext cx="5010912" cy="420624"/>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FFFFFF"/>
                </a:solidFill>
                <a:latin typeface="Calibri"/>
              </a:rPr>
              <a:t>Best candidate per family</a:t>
            </a:r>
          </a:p>
        </p:txBody>
      </p:sp>
      <p:sp>
        <p:nvSpPr>
          <p:cNvPr id="6" name="Rectangle 5"/>
          <p:cNvSpPr/>
          <p:nvPr/>
        </p:nvSpPr>
        <p:spPr>
          <a:xfrm>
            <a:off x="5760720" y="1691640"/>
            <a:ext cx="1371600" cy="42062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0" y="1691640"/>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Book</a:t>
            </a:r>
          </a:p>
        </p:txBody>
      </p:sp>
      <p:sp>
        <p:nvSpPr>
          <p:cNvPr id="8" name="Rectangle 7"/>
          <p:cNvSpPr/>
          <p:nvPr/>
        </p:nvSpPr>
        <p:spPr>
          <a:xfrm>
            <a:off x="7132320" y="1691640"/>
            <a:ext cx="1097280" cy="42062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0" y="1691640"/>
            <a:ext cx="109728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IS net</a:t>
            </a:r>
          </a:p>
        </p:txBody>
      </p:sp>
      <p:sp>
        <p:nvSpPr>
          <p:cNvPr id="10" name="Rectangle 9"/>
          <p:cNvSpPr/>
          <p:nvPr/>
        </p:nvSpPr>
        <p:spPr>
          <a:xfrm>
            <a:off x="8229600" y="1691640"/>
            <a:ext cx="1371600" cy="42062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91640"/>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Hold-out net</a:t>
            </a:r>
          </a:p>
        </p:txBody>
      </p:sp>
      <p:sp>
        <p:nvSpPr>
          <p:cNvPr id="12" name="Rectangle 11"/>
          <p:cNvSpPr/>
          <p:nvPr/>
        </p:nvSpPr>
        <p:spPr>
          <a:xfrm>
            <a:off x="640080" y="2112264"/>
            <a:ext cx="512064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112264"/>
            <a:ext cx="5010912" cy="420624"/>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1E2761"/>
                </a:solidFill>
                <a:latin typeface="Calibri"/>
              </a:rPr>
              <a:t>Theme 14 momentum, hold 7</a:t>
            </a:r>
          </a:p>
        </p:txBody>
      </p:sp>
      <p:sp>
        <p:nvSpPr>
          <p:cNvPr id="14" name="Rectangle 13"/>
          <p:cNvSpPr/>
          <p:nvPr/>
        </p:nvSpPr>
        <p:spPr>
          <a:xfrm>
            <a:off x="5760720" y="2112264"/>
            <a:ext cx="137160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0" y="2112264"/>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Momentum</a:t>
            </a:r>
          </a:p>
        </p:txBody>
      </p:sp>
      <p:sp>
        <p:nvSpPr>
          <p:cNvPr id="16" name="Rectangle 15"/>
          <p:cNvSpPr/>
          <p:nvPr/>
        </p:nvSpPr>
        <p:spPr>
          <a:xfrm>
            <a:off x="7132320" y="2112264"/>
            <a:ext cx="109728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2112264"/>
            <a:ext cx="109728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0.57</a:t>
            </a:r>
          </a:p>
        </p:txBody>
      </p:sp>
      <p:sp>
        <p:nvSpPr>
          <p:cNvPr id="18" name="Rectangle 17"/>
          <p:cNvSpPr/>
          <p:nvPr/>
        </p:nvSpPr>
        <p:spPr>
          <a:xfrm>
            <a:off x="8229600" y="2112264"/>
            <a:ext cx="137160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2112264"/>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-0.45</a:t>
            </a:r>
          </a:p>
        </p:txBody>
      </p:sp>
      <p:sp>
        <p:nvSpPr>
          <p:cNvPr id="20" name="Rectangle 19"/>
          <p:cNvSpPr/>
          <p:nvPr/>
        </p:nvSpPr>
        <p:spPr>
          <a:xfrm>
            <a:off x="640080" y="2532888"/>
            <a:ext cx="512064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2532888"/>
            <a:ext cx="5010912" cy="420624"/>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1E2761"/>
                </a:solidFill>
                <a:latin typeface="Calibri"/>
              </a:rPr>
              <a:t>TS 7/14/28 blend + DVOL filter momentum, hold 1</a:t>
            </a:r>
          </a:p>
        </p:txBody>
      </p:sp>
      <p:sp>
        <p:nvSpPr>
          <p:cNvPr id="22" name="Rectangle 21"/>
          <p:cNvSpPr/>
          <p:nvPr/>
        </p:nvSpPr>
        <p:spPr>
          <a:xfrm>
            <a:off x="5760720" y="2532888"/>
            <a:ext cx="137160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0720" y="2532888"/>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Momentum</a:t>
            </a:r>
          </a:p>
        </p:txBody>
      </p:sp>
      <p:sp>
        <p:nvSpPr>
          <p:cNvPr id="24" name="Rectangle 23"/>
          <p:cNvSpPr/>
          <p:nvPr/>
        </p:nvSpPr>
        <p:spPr>
          <a:xfrm>
            <a:off x="7132320" y="2532888"/>
            <a:ext cx="109728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532888"/>
            <a:ext cx="109728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0.55</a:t>
            </a:r>
          </a:p>
        </p:txBody>
      </p:sp>
      <p:sp>
        <p:nvSpPr>
          <p:cNvPr id="26" name="Rectangle 25"/>
          <p:cNvSpPr/>
          <p:nvPr/>
        </p:nvSpPr>
        <p:spPr>
          <a:xfrm>
            <a:off x="8229600" y="2532888"/>
            <a:ext cx="137160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2532888"/>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0.62</a:t>
            </a:r>
          </a:p>
        </p:txBody>
      </p:sp>
      <p:sp>
        <p:nvSpPr>
          <p:cNvPr id="28" name="Rectangle 27"/>
          <p:cNvSpPr/>
          <p:nvPr/>
        </p:nvSpPr>
        <p:spPr>
          <a:xfrm>
            <a:off x="640080" y="2953512"/>
            <a:ext cx="512064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2953512"/>
            <a:ext cx="5010912" cy="420624"/>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333333"/>
                </a:solidFill>
                <a:latin typeface="Calibri"/>
              </a:rPr>
              <a:t>CS 14 momentum, hold 3</a:t>
            </a:r>
          </a:p>
        </p:txBody>
      </p:sp>
      <p:sp>
        <p:nvSpPr>
          <p:cNvPr id="30" name="Rectangle 29"/>
          <p:cNvSpPr/>
          <p:nvPr/>
        </p:nvSpPr>
        <p:spPr>
          <a:xfrm>
            <a:off x="5760720" y="2953512"/>
            <a:ext cx="137160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0720" y="2953512"/>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Momentum</a:t>
            </a:r>
          </a:p>
        </p:txBody>
      </p:sp>
      <p:sp>
        <p:nvSpPr>
          <p:cNvPr id="32" name="Rectangle 31"/>
          <p:cNvSpPr/>
          <p:nvPr/>
        </p:nvSpPr>
        <p:spPr>
          <a:xfrm>
            <a:off x="7132320" y="2953512"/>
            <a:ext cx="109728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0" y="2953512"/>
            <a:ext cx="109728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-0.56</a:t>
            </a:r>
          </a:p>
        </p:txBody>
      </p:sp>
      <p:sp>
        <p:nvSpPr>
          <p:cNvPr id="34" name="Rectangle 33"/>
          <p:cNvSpPr/>
          <p:nvPr/>
        </p:nvSpPr>
        <p:spPr>
          <a:xfrm>
            <a:off x="8229600" y="2953512"/>
            <a:ext cx="137160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0" y="2953512"/>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-0.20</a:t>
            </a:r>
          </a:p>
        </p:txBody>
      </p:sp>
      <p:sp>
        <p:nvSpPr>
          <p:cNvPr id="36" name="Rectangle 35"/>
          <p:cNvSpPr/>
          <p:nvPr/>
        </p:nvSpPr>
        <p:spPr>
          <a:xfrm>
            <a:off x="640080" y="3374136"/>
            <a:ext cx="512064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3374136"/>
            <a:ext cx="5010912" cy="420624"/>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1E2761"/>
                </a:solidFill>
                <a:latin typeface="Calibri"/>
              </a:rPr>
              <a:t>Residual vs theme 60 reversal, hold 7</a:t>
            </a:r>
          </a:p>
        </p:txBody>
      </p:sp>
      <p:sp>
        <p:nvSpPr>
          <p:cNvPr id="38" name="Rectangle 37"/>
          <p:cNvSpPr/>
          <p:nvPr/>
        </p:nvSpPr>
        <p:spPr>
          <a:xfrm>
            <a:off x="5760720" y="3374136"/>
            <a:ext cx="137160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60720" y="3374136"/>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Reversal</a:t>
            </a:r>
          </a:p>
        </p:txBody>
      </p:sp>
      <p:sp>
        <p:nvSpPr>
          <p:cNvPr id="40" name="Rectangle 39"/>
          <p:cNvSpPr/>
          <p:nvPr/>
        </p:nvSpPr>
        <p:spPr>
          <a:xfrm>
            <a:off x="7132320" y="3374136"/>
            <a:ext cx="109728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0" y="3374136"/>
            <a:ext cx="109728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0.81</a:t>
            </a:r>
          </a:p>
        </p:txBody>
      </p:sp>
      <p:sp>
        <p:nvSpPr>
          <p:cNvPr id="42" name="Rectangle 41"/>
          <p:cNvSpPr/>
          <p:nvPr/>
        </p:nvSpPr>
        <p:spPr>
          <a:xfrm>
            <a:off x="8229600" y="3374136"/>
            <a:ext cx="137160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3374136"/>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0.05</a:t>
            </a:r>
          </a:p>
        </p:txBody>
      </p:sp>
      <p:sp>
        <p:nvSpPr>
          <p:cNvPr id="44" name="Rectangle 43"/>
          <p:cNvSpPr/>
          <p:nvPr/>
        </p:nvSpPr>
        <p:spPr>
          <a:xfrm>
            <a:off x="640080" y="3794760"/>
            <a:ext cx="512064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9808" y="3794760"/>
            <a:ext cx="5010912" cy="420624"/>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1E2761"/>
                </a:solidFill>
                <a:latin typeface="Calibri"/>
              </a:rPr>
              <a:t>CS 120 reversal, hold 7</a:t>
            </a:r>
          </a:p>
        </p:txBody>
      </p:sp>
      <p:sp>
        <p:nvSpPr>
          <p:cNvPr id="46" name="Rectangle 45"/>
          <p:cNvSpPr/>
          <p:nvPr/>
        </p:nvSpPr>
        <p:spPr>
          <a:xfrm>
            <a:off x="5760720" y="3794760"/>
            <a:ext cx="137160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60720" y="3794760"/>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Reversal</a:t>
            </a:r>
          </a:p>
        </p:txBody>
      </p:sp>
      <p:sp>
        <p:nvSpPr>
          <p:cNvPr id="48" name="Rectangle 47"/>
          <p:cNvSpPr/>
          <p:nvPr/>
        </p:nvSpPr>
        <p:spPr>
          <a:xfrm>
            <a:off x="7132320" y="3794760"/>
            <a:ext cx="109728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32320" y="3794760"/>
            <a:ext cx="109728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0.67</a:t>
            </a:r>
          </a:p>
        </p:txBody>
      </p:sp>
      <p:sp>
        <p:nvSpPr>
          <p:cNvPr id="50" name="Rectangle 49"/>
          <p:cNvSpPr/>
          <p:nvPr/>
        </p:nvSpPr>
        <p:spPr>
          <a:xfrm>
            <a:off x="8229600" y="3794760"/>
            <a:ext cx="137160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9600" y="3794760"/>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-0.07</a:t>
            </a:r>
          </a:p>
        </p:txBody>
      </p:sp>
      <p:sp>
        <p:nvSpPr>
          <p:cNvPr id="52" name="Rectangle 51"/>
          <p:cNvSpPr/>
          <p:nvPr/>
        </p:nvSpPr>
        <p:spPr>
          <a:xfrm>
            <a:off x="640080" y="4215384"/>
            <a:ext cx="512064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9808" y="4215384"/>
            <a:ext cx="5010912" cy="420624"/>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1E2761"/>
                </a:solidFill>
                <a:latin typeface="Calibri"/>
              </a:rPr>
              <a:t>Residual vs market 60 reversal, hold 7</a:t>
            </a:r>
          </a:p>
        </p:txBody>
      </p:sp>
      <p:sp>
        <p:nvSpPr>
          <p:cNvPr id="54" name="Rectangle 53"/>
          <p:cNvSpPr/>
          <p:nvPr/>
        </p:nvSpPr>
        <p:spPr>
          <a:xfrm>
            <a:off x="5760720" y="4215384"/>
            <a:ext cx="137160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60720" y="4215384"/>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Reversal</a:t>
            </a:r>
          </a:p>
        </p:txBody>
      </p:sp>
      <p:sp>
        <p:nvSpPr>
          <p:cNvPr id="56" name="Rectangle 55"/>
          <p:cNvSpPr/>
          <p:nvPr/>
        </p:nvSpPr>
        <p:spPr>
          <a:xfrm>
            <a:off x="7132320" y="4215384"/>
            <a:ext cx="109728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32320" y="4215384"/>
            <a:ext cx="109728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0.65</a:t>
            </a:r>
          </a:p>
        </p:txBody>
      </p:sp>
      <p:sp>
        <p:nvSpPr>
          <p:cNvPr id="58" name="Rectangle 57"/>
          <p:cNvSpPr/>
          <p:nvPr/>
        </p:nvSpPr>
        <p:spPr>
          <a:xfrm>
            <a:off x="8229600" y="4215384"/>
            <a:ext cx="1371600" cy="420624"/>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29600" y="4215384"/>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E2761"/>
                </a:solidFill>
                <a:latin typeface="Calibri"/>
              </a:rPr>
              <a:t>-0.26</a:t>
            </a:r>
          </a:p>
        </p:txBody>
      </p:sp>
      <p:sp>
        <p:nvSpPr>
          <p:cNvPr id="60" name="Rectangle 59"/>
          <p:cNvSpPr/>
          <p:nvPr/>
        </p:nvSpPr>
        <p:spPr>
          <a:xfrm>
            <a:off x="640080" y="4636008"/>
            <a:ext cx="512064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9808" y="4636008"/>
            <a:ext cx="5010912" cy="420624"/>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333333"/>
                </a:solidFill>
                <a:latin typeface="Calibri"/>
              </a:rPr>
              <a:t>TS 90 reversal, hold 1</a:t>
            </a:r>
          </a:p>
        </p:txBody>
      </p:sp>
      <p:sp>
        <p:nvSpPr>
          <p:cNvPr id="62" name="Rectangle 61"/>
          <p:cNvSpPr/>
          <p:nvPr/>
        </p:nvSpPr>
        <p:spPr>
          <a:xfrm>
            <a:off x="5760720" y="4636008"/>
            <a:ext cx="137160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760720" y="4636008"/>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Reversal</a:t>
            </a:r>
          </a:p>
        </p:txBody>
      </p:sp>
      <p:sp>
        <p:nvSpPr>
          <p:cNvPr id="64" name="Rectangle 63"/>
          <p:cNvSpPr/>
          <p:nvPr/>
        </p:nvSpPr>
        <p:spPr>
          <a:xfrm>
            <a:off x="7132320" y="4636008"/>
            <a:ext cx="109728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32320" y="4636008"/>
            <a:ext cx="109728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0.34</a:t>
            </a:r>
          </a:p>
        </p:txBody>
      </p:sp>
      <p:sp>
        <p:nvSpPr>
          <p:cNvPr id="66" name="Rectangle 65"/>
          <p:cNvSpPr/>
          <p:nvPr/>
        </p:nvSpPr>
        <p:spPr>
          <a:xfrm>
            <a:off x="8229600" y="4636008"/>
            <a:ext cx="137160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229600" y="4636008"/>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-0.48</a:t>
            </a:r>
          </a:p>
        </p:txBody>
      </p:sp>
      <p:sp>
        <p:nvSpPr>
          <p:cNvPr id="68" name="Rectangle 67"/>
          <p:cNvSpPr/>
          <p:nvPr/>
        </p:nvSpPr>
        <p:spPr>
          <a:xfrm>
            <a:off x="640080" y="5056632"/>
            <a:ext cx="512064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9808" y="5056632"/>
            <a:ext cx="5010912" cy="420624"/>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333333"/>
                </a:solidFill>
                <a:latin typeface="Calibri"/>
              </a:rPr>
              <a:t>Short-term (1d) in high-vol regime reversal, hold 2</a:t>
            </a:r>
          </a:p>
        </p:txBody>
      </p:sp>
      <p:sp>
        <p:nvSpPr>
          <p:cNvPr id="70" name="Rectangle 69"/>
          <p:cNvSpPr/>
          <p:nvPr/>
        </p:nvSpPr>
        <p:spPr>
          <a:xfrm>
            <a:off x="5760720" y="5056632"/>
            <a:ext cx="13716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760720" y="5056632"/>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Reversal</a:t>
            </a:r>
          </a:p>
        </p:txBody>
      </p:sp>
      <p:sp>
        <p:nvSpPr>
          <p:cNvPr id="72" name="Rectangle 71"/>
          <p:cNvSpPr/>
          <p:nvPr/>
        </p:nvSpPr>
        <p:spPr>
          <a:xfrm>
            <a:off x="7132320" y="5056632"/>
            <a:ext cx="10972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132320" y="5056632"/>
            <a:ext cx="109728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0.29</a:t>
            </a:r>
          </a:p>
        </p:txBody>
      </p:sp>
      <p:sp>
        <p:nvSpPr>
          <p:cNvPr id="74" name="Rectangle 73"/>
          <p:cNvSpPr/>
          <p:nvPr/>
        </p:nvSpPr>
        <p:spPr>
          <a:xfrm>
            <a:off x="8229600" y="5056632"/>
            <a:ext cx="13716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229600" y="5056632"/>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-0.66</a:t>
            </a:r>
          </a:p>
        </p:txBody>
      </p:sp>
      <p:sp>
        <p:nvSpPr>
          <p:cNvPr id="76" name="Rectangle 75"/>
          <p:cNvSpPr/>
          <p:nvPr/>
        </p:nvSpPr>
        <p:spPr>
          <a:xfrm>
            <a:off x="640080" y="5477256"/>
            <a:ext cx="512064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49808" y="5477256"/>
            <a:ext cx="5010912" cy="420624"/>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333333"/>
                </a:solidFill>
                <a:latin typeface="Calibri"/>
              </a:rPr>
              <a:t>Cointegrated pairs REV</a:t>
            </a:r>
          </a:p>
        </p:txBody>
      </p:sp>
      <p:sp>
        <p:nvSpPr>
          <p:cNvPr id="78" name="Rectangle 77"/>
          <p:cNvSpPr/>
          <p:nvPr/>
        </p:nvSpPr>
        <p:spPr>
          <a:xfrm>
            <a:off x="5760720" y="5477256"/>
            <a:ext cx="137160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760720" y="5477256"/>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Reversal</a:t>
            </a:r>
          </a:p>
        </p:txBody>
      </p:sp>
      <p:sp>
        <p:nvSpPr>
          <p:cNvPr id="80" name="Rectangle 79"/>
          <p:cNvSpPr/>
          <p:nvPr/>
        </p:nvSpPr>
        <p:spPr>
          <a:xfrm>
            <a:off x="7132320" y="5477256"/>
            <a:ext cx="109728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132320" y="5477256"/>
            <a:ext cx="109728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-0.58</a:t>
            </a:r>
          </a:p>
        </p:txBody>
      </p:sp>
      <p:sp>
        <p:nvSpPr>
          <p:cNvPr id="82" name="Rectangle 81"/>
          <p:cNvSpPr/>
          <p:nvPr/>
        </p:nvSpPr>
        <p:spPr>
          <a:xfrm>
            <a:off x="8229600" y="5477256"/>
            <a:ext cx="1371600" cy="4206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229600" y="5477256"/>
            <a:ext cx="13716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200" b="0" i="0">
                <a:solidFill>
                  <a:srgbClr val="333333"/>
                </a:solidFill>
                <a:latin typeface="Calibri"/>
              </a:rPr>
              <a:t>0.94</a:t>
            </a:r>
          </a:p>
        </p:txBody>
      </p:sp>
      <p:sp>
        <p:nvSpPr>
          <p:cNvPr id="84" name="TextBox 83"/>
          <p:cNvSpPr txBox="1"/>
          <p:nvPr/>
        </p:nvSpPr>
        <p:spPr>
          <a:xfrm>
            <a:off x="640080" y="5989320"/>
            <a:ext cx="1097280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0" i="1">
                <a:solidFill>
                  <a:srgbClr val="5A5A5A"/>
                </a:solidFill>
                <a:latin typeface="Calibri"/>
              </a:rPr>
              <a:t>Highlighted = selected (positive IS net Sharpe, top three families per book). Cross-sectional momentum never cleared 20 bps.</a:t>
            </a:r>
          </a:p>
        </p:txBody>
      </p:sp>
      <p:sp>
        <p:nvSpPr>
          <p:cNvPr id="85" name="TextBox 84"/>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B8DEF"/>
                </a:solidFill>
                <a:latin typeface="Calibri"/>
              </a:rPr>
              <a:t>EXECUTION AND WEIGHTING</a:t>
            </a:r>
          </a:p>
        </p:txBody>
      </p:sp>
      <p:sp>
        <p:nvSpPr>
          <p:cNvPr id="3" name="TextBox 2"/>
          <p:cNvSpPr txBox="1"/>
          <p:nvPr/>
        </p:nvSpPr>
        <p:spPr>
          <a:xfrm>
            <a:off x="640080" y="73152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Costs bite hard; the books diversify each other</a:t>
            </a:r>
          </a:p>
        </p:txBody>
      </p:sp>
      <p:pic>
        <p:nvPicPr>
          <p:cNvPr id="4" name="Picture 3" descr="H_cost_sweep.png"/>
          <p:cNvPicPr>
            <a:picLocks noChangeAspect="1"/>
          </p:cNvPicPr>
          <p:nvPr/>
        </p:nvPicPr>
        <p:blipFill>
          <a:blip r:embed="rId2"/>
          <a:stretch>
            <a:fillRect/>
          </a:stretch>
        </p:blipFill>
        <p:spPr>
          <a:xfrm>
            <a:off x="411480" y="1645920"/>
            <a:ext cx="6035040" cy="2950464"/>
          </a:xfrm>
          <a:prstGeom prst="rect">
            <a:avLst/>
          </a:prstGeom>
        </p:spPr>
      </p:pic>
      <p:sp>
        <p:nvSpPr>
          <p:cNvPr id="5" name="Rectangle 4"/>
          <p:cNvSpPr/>
          <p:nvPr/>
        </p:nvSpPr>
        <p:spPr>
          <a:xfrm>
            <a:off x="6720840" y="1737360"/>
            <a:ext cx="274320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30568" y="1737360"/>
            <a:ext cx="2633472" cy="457200"/>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FFFFFF"/>
                </a:solidFill>
                <a:latin typeface="Calibri"/>
              </a:rPr>
              <a:t>Weighting</a:t>
            </a:r>
          </a:p>
        </p:txBody>
      </p:sp>
      <p:sp>
        <p:nvSpPr>
          <p:cNvPr id="7" name="Rectangle 6"/>
          <p:cNvSpPr/>
          <p:nvPr/>
        </p:nvSpPr>
        <p:spPr>
          <a:xfrm>
            <a:off x="9464040" y="1737360"/>
            <a:ext cx="91440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1737360"/>
            <a:ext cx="9144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IS</a:t>
            </a:r>
          </a:p>
        </p:txBody>
      </p:sp>
      <p:sp>
        <p:nvSpPr>
          <p:cNvPr id="9" name="Rectangle 8"/>
          <p:cNvSpPr/>
          <p:nvPr/>
        </p:nvSpPr>
        <p:spPr>
          <a:xfrm>
            <a:off x="10378440" y="1737360"/>
            <a:ext cx="109728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78440" y="1737360"/>
            <a:ext cx="109728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Hold-out</a:t>
            </a:r>
          </a:p>
        </p:txBody>
      </p:sp>
      <p:sp>
        <p:nvSpPr>
          <p:cNvPr id="11" name="Rectangle 10"/>
          <p:cNvSpPr/>
          <p:nvPr/>
        </p:nvSpPr>
        <p:spPr>
          <a:xfrm>
            <a:off x="6720840" y="2194560"/>
            <a:ext cx="274320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30568" y="2194560"/>
            <a:ext cx="2633472" cy="45720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333333"/>
                </a:solidFill>
                <a:latin typeface="Calibri"/>
              </a:rPr>
              <a:t>Equal weight</a:t>
            </a:r>
          </a:p>
        </p:txBody>
      </p:sp>
      <p:sp>
        <p:nvSpPr>
          <p:cNvPr id="13" name="Rectangle 12"/>
          <p:cNvSpPr/>
          <p:nvPr/>
        </p:nvSpPr>
        <p:spPr>
          <a:xfrm>
            <a:off x="9464040" y="2194560"/>
            <a:ext cx="91440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64040" y="2194560"/>
            <a:ext cx="9144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0.86</a:t>
            </a:r>
          </a:p>
        </p:txBody>
      </p:sp>
      <p:sp>
        <p:nvSpPr>
          <p:cNvPr id="15" name="Rectangle 14"/>
          <p:cNvSpPr/>
          <p:nvPr/>
        </p:nvSpPr>
        <p:spPr>
          <a:xfrm>
            <a:off x="10378440" y="2194560"/>
            <a:ext cx="109728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78440" y="2194560"/>
            <a:ext cx="109728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0.20</a:t>
            </a:r>
          </a:p>
        </p:txBody>
      </p:sp>
      <p:sp>
        <p:nvSpPr>
          <p:cNvPr id="17" name="Rectangle 16"/>
          <p:cNvSpPr/>
          <p:nvPr/>
        </p:nvSpPr>
        <p:spPr>
          <a:xfrm>
            <a:off x="6720840" y="2651760"/>
            <a:ext cx="2743200" cy="45720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0568" y="2651760"/>
            <a:ext cx="2633472" cy="45720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1E2761"/>
                </a:solidFill>
                <a:latin typeface="Calibri"/>
              </a:rPr>
              <a:t>Inverse volatility</a:t>
            </a:r>
          </a:p>
        </p:txBody>
      </p:sp>
      <p:sp>
        <p:nvSpPr>
          <p:cNvPr id="19" name="Rectangle 18"/>
          <p:cNvSpPr/>
          <p:nvPr/>
        </p:nvSpPr>
        <p:spPr>
          <a:xfrm>
            <a:off x="9464040" y="2651760"/>
            <a:ext cx="914400" cy="45720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64040" y="2651760"/>
            <a:ext cx="9144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1E2761"/>
                </a:solidFill>
                <a:latin typeface="Calibri"/>
              </a:rPr>
              <a:t>0.93</a:t>
            </a:r>
          </a:p>
        </p:txBody>
      </p:sp>
      <p:sp>
        <p:nvSpPr>
          <p:cNvPr id="21" name="Rectangle 20"/>
          <p:cNvSpPr/>
          <p:nvPr/>
        </p:nvSpPr>
        <p:spPr>
          <a:xfrm>
            <a:off x="10378440" y="2651760"/>
            <a:ext cx="1097280" cy="45720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78440" y="2651760"/>
            <a:ext cx="109728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1E2761"/>
                </a:solidFill>
                <a:latin typeface="Calibri"/>
              </a:rPr>
              <a:t>0.20</a:t>
            </a:r>
          </a:p>
        </p:txBody>
      </p:sp>
      <p:sp>
        <p:nvSpPr>
          <p:cNvPr id="23" name="Rectangle 22"/>
          <p:cNvSpPr/>
          <p:nvPr/>
        </p:nvSpPr>
        <p:spPr>
          <a:xfrm>
            <a:off x="6720840" y="3108960"/>
            <a:ext cx="274320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0568" y="3108960"/>
            <a:ext cx="2633472" cy="45720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333333"/>
                </a:solidFill>
                <a:latin typeface="Calibri"/>
              </a:rPr>
              <a:t>Risk parity (ERC)</a:t>
            </a:r>
          </a:p>
        </p:txBody>
      </p:sp>
      <p:sp>
        <p:nvSpPr>
          <p:cNvPr id="25" name="Rectangle 24"/>
          <p:cNvSpPr/>
          <p:nvPr/>
        </p:nvSpPr>
        <p:spPr>
          <a:xfrm>
            <a:off x="9464040" y="3108960"/>
            <a:ext cx="91440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64040" y="3108960"/>
            <a:ext cx="9144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0.93</a:t>
            </a:r>
          </a:p>
        </p:txBody>
      </p:sp>
      <p:sp>
        <p:nvSpPr>
          <p:cNvPr id="27" name="Rectangle 26"/>
          <p:cNvSpPr/>
          <p:nvPr/>
        </p:nvSpPr>
        <p:spPr>
          <a:xfrm>
            <a:off x="10378440" y="3108960"/>
            <a:ext cx="1097280" cy="4572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78440" y="3108960"/>
            <a:ext cx="109728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0.20</a:t>
            </a:r>
          </a:p>
        </p:txBody>
      </p:sp>
      <p:sp>
        <p:nvSpPr>
          <p:cNvPr id="29" name="Rectangle 28"/>
          <p:cNvSpPr/>
          <p:nvPr/>
        </p:nvSpPr>
        <p:spPr>
          <a:xfrm>
            <a:off x="6720840" y="3566160"/>
            <a:ext cx="27432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30568" y="3566160"/>
            <a:ext cx="2633472" cy="45720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333333"/>
                </a:solidFill>
                <a:latin typeface="Calibri"/>
              </a:rPr>
              <a:t>Mean-variance (shrunk)</a:t>
            </a:r>
          </a:p>
        </p:txBody>
      </p:sp>
      <p:sp>
        <p:nvSpPr>
          <p:cNvPr id="31" name="Rectangle 30"/>
          <p:cNvSpPr/>
          <p:nvPr/>
        </p:nvSpPr>
        <p:spPr>
          <a:xfrm>
            <a:off x="9464040" y="3566160"/>
            <a:ext cx="9144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64040" y="3566160"/>
            <a:ext cx="9144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0.60</a:t>
            </a:r>
          </a:p>
        </p:txBody>
      </p:sp>
      <p:sp>
        <p:nvSpPr>
          <p:cNvPr id="33" name="Rectangle 32"/>
          <p:cNvSpPr/>
          <p:nvPr/>
        </p:nvSpPr>
        <p:spPr>
          <a:xfrm>
            <a:off x="10378440" y="3566160"/>
            <a:ext cx="109728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78440" y="3566160"/>
            <a:ext cx="109728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-0.01</a:t>
            </a:r>
          </a:p>
        </p:txBody>
      </p:sp>
      <p:sp>
        <p:nvSpPr>
          <p:cNvPr id="35" name="TextBox 34"/>
          <p:cNvSpPr txBox="1"/>
          <p:nvPr/>
        </p:nvSpPr>
        <p:spPr>
          <a:xfrm>
            <a:off x="640080" y="4983480"/>
            <a:ext cx="10972800" cy="1371600"/>
          </a:xfrm>
          <a:prstGeom prst="rect">
            <a:avLst/>
          </a:prstGeom>
          <a:noFill/>
        </p:spPr>
        <p:txBody>
          <a:bodyPr wrap="square" lIns="0" rIns="0" tIns="0" bIns="0">
            <a:spAutoFit/>
          </a:bodyPr>
          <a:lstStyle/>
          <a:p>
            <a:pPr>
              <a:lnSpc>
                <a:spcPct val="105000"/>
              </a:lnSpc>
              <a:spcBef>
                <a:spcPts val="0"/>
              </a:spcBef>
              <a:spcAft>
                <a:spcPts val="800"/>
              </a:spcAft>
            </a:pPr>
            <a:r>
              <a:rPr sz="1350" b="1">
                <a:solidFill>
                  <a:srgbClr val="5B8DEF"/>
                </a:solidFill>
                <a:latin typeface="Calibri"/>
              </a:rPr>
              <a:t>-  </a:t>
            </a:r>
            <a:r>
              <a:rPr sz="1350" b="1">
                <a:solidFill>
                  <a:srgbClr val="1E2761"/>
                </a:solidFill>
                <a:latin typeface="Calibri"/>
              </a:rPr>
              <a:t>Execution: </a:t>
            </a:r>
            <a:r>
              <a:rPr sz="1350" b="0">
                <a:solidFill>
                  <a:srgbClr val="1E2761"/>
                </a:solidFill>
                <a:latin typeface="Calibri"/>
              </a:rPr>
              <a:t>No-trade band 2% for momentum, hold 3d (overlapping) for reversal (chosen on 2021-23). Hold-out Sharpe falls to 0.11 if every trade costs 20 bps.</a:t>
            </a:r>
          </a:p>
          <a:p>
            <a:pPr>
              <a:lnSpc>
                <a:spcPct val="105000"/>
              </a:lnSpc>
              <a:spcBef>
                <a:spcPts val="0"/>
              </a:spcBef>
              <a:spcAft>
                <a:spcPts val="800"/>
              </a:spcAft>
            </a:pPr>
            <a:r>
              <a:rPr sz="1350" b="1">
                <a:solidFill>
                  <a:srgbClr val="5B8DEF"/>
                </a:solidFill>
                <a:latin typeface="Calibri"/>
              </a:rPr>
              <a:t>-  </a:t>
            </a:r>
            <a:r>
              <a:rPr sz="1350" b="1">
                <a:solidFill>
                  <a:srgbClr val="1E2761"/>
                </a:solidFill>
                <a:latin typeface="Calibri"/>
              </a:rPr>
              <a:t>Diversification: </a:t>
            </a:r>
            <a:r>
              <a:rPr sz="1350" b="0">
                <a:solidFill>
                  <a:srgbClr val="1E2761"/>
                </a:solidFill>
                <a:latin typeface="Calibri"/>
              </a:rPr>
              <a:t>momentum and reversal books correlate -0.11; ensemble hold-out 0.20 vs single-best -0.24.</a:t>
            </a:r>
          </a:p>
        </p:txBody>
      </p:sp>
      <p:sp>
        <p:nvSpPr>
          <p:cNvPr id="36" name="TextBox 35"/>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B8DEF"/>
                </a:solidFill>
                <a:latin typeface="Calibri"/>
              </a:rPr>
              <a:t>PERFORMANCE EVALUATION</a:t>
            </a:r>
          </a:p>
        </p:txBody>
      </p:sp>
      <p:sp>
        <p:nvSpPr>
          <p:cNvPr id="3" name="TextBox 2"/>
          <p:cNvSpPr txBox="1"/>
          <p:nvPr/>
        </p:nvSpPr>
        <p:spPr>
          <a:xfrm>
            <a:off x="640080" y="73152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Hold-out first, with alpha t and correlation to BTC</a:t>
            </a:r>
          </a:p>
        </p:txBody>
      </p:sp>
      <p:sp>
        <p:nvSpPr>
          <p:cNvPr id="4" name="Rectangle 3"/>
          <p:cNvSpPr/>
          <p:nvPr/>
        </p:nvSpPr>
        <p:spPr>
          <a:xfrm>
            <a:off x="640080" y="1691640"/>
            <a:ext cx="2743200" cy="5486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691640"/>
            <a:ext cx="2633472" cy="548640"/>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FFFFFF"/>
                </a:solidFill>
                <a:latin typeface="Calibri"/>
              </a:rPr>
              <a:t>Strategy</a:t>
            </a:r>
          </a:p>
        </p:txBody>
      </p:sp>
      <p:sp>
        <p:nvSpPr>
          <p:cNvPr id="6" name="Rectangle 5"/>
          <p:cNvSpPr/>
          <p:nvPr/>
        </p:nvSpPr>
        <p:spPr>
          <a:xfrm>
            <a:off x="3383280" y="1691640"/>
            <a:ext cx="1234440" cy="5486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0" y="169164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150" b="1" i="0">
                <a:solidFill>
                  <a:srgbClr val="FFFFFF"/>
                </a:solidFill>
                <a:latin typeface="Calibri"/>
              </a:rPr>
              <a:t>Hold-out Sharpe</a:t>
            </a:r>
          </a:p>
        </p:txBody>
      </p:sp>
      <p:sp>
        <p:nvSpPr>
          <p:cNvPr id="8" name="Rectangle 7"/>
          <p:cNvSpPr/>
          <p:nvPr/>
        </p:nvSpPr>
        <p:spPr>
          <a:xfrm>
            <a:off x="4617720" y="1691640"/>
            <a:ext cx="1234440" cy="5486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69164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150" b="1" i="0">
                <a:solidFill>
                  <a:srgbClr val="FFFFFF"/>
                </a:solidFill>
                <a:latin typeface="Calibri"/>
              </a:rPr>
              <a:t>Research Sharpe</a:t>
            </a:r>
          </a:p>
        </p:txBody>
      </p:sp>
      <p:sp>
        <p:nvSpPr>
          <p:cNvPr id="10" name="Rectangle 9"/>
          <p:cNvSpPr/>
          <p:nvPr/>
        </p:nvSpPr>
        <p:spPr>
          <a:xfrm>
            <a:off x="5852160" y="1691640"/>
            <a:ext cx="1234440" cy="5486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69164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150" b="1" i="0">
                <a:solidFill>
                  <a:srgbClr val="FFFFFF"/>
                </a:solidFill>
                <a:latin typeface="Calibri"/>
              </a:rPr>
              <a:t>Hold-out return</a:t>
            </a:r>
          </a:p>
        </p:txBody>
      </p:sp>
      <p:sp>
        <p:nvSpPr>
          <p:cNvPr id="12" name="Rectangle 11"/>
          <p:cNvSpPr/>
          <p:nvPr/>
        </p:nvSpPr>
        <p:spPr>
          <a:xfrm>
            <a:off x="7086600" y="1691640"/>
            <a:ext cx="1234440" cy="5486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86600" y="169164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150" b="1" i="0">
                <a:solidFill>
                  <a:srgbClr val="FFFFFF"/>
                </a:solidFill>
                <a:latin typeface="Calibri"/>
              </a:rPr>
              <a:t>Hold-out max DD</a:t>
            </a:r>
          </a:p>
        </p:txBody>
      </p:sp>
      <p:sp>
        <p:nvSpPr>
          <p:cNvPr id="14" name="Rectangle 13"/>
          <p:cNvSpPr/>
          <p:nvPr/>
        </p:nvSpPr>
        <p:spPr>
          <a:xfrm>
            <a:off x="8321040" y="1691640"/>
            <a:ext cx="1234440" cy="5486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69164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150" b="1" i="0">
                <a:solidFill>
                  <a:srgbClr val="FFFFFF"/>
                </a:solidFill>
                <a:latin typeface="Calibri"/>
              </a:rPr>
              <a:t>Hold-out alpha t</a:t>
            </a:r>
          </a:p>
        </p:txBody>
      </p:sp>
      <p:sp>
        <p:nvSpPr>
          <p:cNvPr id="16" name="Rectangle 15"/>
          <p:cNvSpPr/>
          <p:nvPr/>
        </p:nvSpPr>
        <p:spPr>
          <a:xfrm>
            <a:off x="9555480" y="1691640"/>
            <a:ext cx="822960" cy="5486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1691640"/>
            <a:ext cx="8229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150" b="1" i="0">
                <a:solidFill>
                  <a:srgbClr val="FFFFFF"/>
                </a:solidFill>
                <a:latin typeface="Calibri"/>
              </a:rPr>
              <a:t>Beta</a:t>
            </a:r>
          </a:p>
        </p:txBody>
      </p:sp>
      <p:sp>
        <p:nvSpPr>
          <p:cNvPr id="18" name="Rectangle 17"/>
          <p:cNvSpPr/>
          <p:nvPr/>
        </p:nvSpPr>
        <p:spPr>
          <a:xfrm>
            <a:off x="10378440" y="1691640"/>
            <a:ext cx="1051560" cy="5486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78440" y="1691640"/>
            <a:ext cx="10515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150" b="1" i="0">
                <a:solidFill>
                  <a:srgbClr val="FFFFFF"/>
                </a:solidFill>
                <a:latin typeface="Calibri"/>
              </a:rPr>
              <a:t>Corr BTC</a:t>
            </a:r>
          </a:p>
        </p:txBody>
      </p:sp>
      <p:sp>
        <p:nvSpPr>
          <p:cNvPr id="20" name="Rectangle 19"/>
          <p:cNvSpPr/>
          <p:nvPr/>
        </p:nvSpPr>
        <p:spPr>
          <a:xfrm>
            <a:off x="640080" y="2240280"/>
            <a:ext cx="2743200" cy="54864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2240280"/>
            <a:ext cx="2633472" cy="54864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1E2761"/>
                </a:solidFill>
                <a:latin typeface="Calibri"/>
              </a:rPr>
              <a:t>Combined portfolio</a:t>
            </a:r>
          </a:p>
        </p:txBody>
      </p:sp>
      <p:sp>
        <p:nvSpPr>
          <p:cNvPr id="22" name="Rectangle 21"/>
          <p:cNvSpPr/>
          <p:nvPr/>
        </p:nvSpPr>
        <p:spPr>
          <a:xfrm>
            <a:off x="3383280" y="2240280"/>
            <a:ext cx="1234440" cy="54864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0" y="224028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1E2761"/>
                </a:solidFill>
                <a:latin typeface="Calibri"/>
              </a:rPr>
              <a:t>0.20</a:t>
            </a:r>
          </a:p>
        </p:txBody>
      </p:sp>
      <p:sp>
        <p:nvSpPr>
          <p:cNvPr id="24" name="Rectangle 23"/>
          <p:cNvSpPr/>
          <p:nvPr/>
        </p:nvSpPr>
        <p:spPr>
          <a:xfrm>
            <a:off x="4617720" y="2240280"/>
            <a:ext cx="1234440" cy="54864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224028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1E2761"/>
                </a:solidFill>
                <a:latin typeface="Calibri"/>
              </a:rPr>
              <a:t>0.93</a:t>
            </a:r>
          </a:p>
        </p:txBody>
      </p:sp>
      <p:sp>
        <p:nvSpPr>
          <p:cNvPr id="26" name="Rectangle 25"/>
          <p:cNvSpPr/>
          <p:nvPr/>
        </p:nvSpPr>
        <p:spPr>
          <a:xfrm>
            <a:off x="5852160" y="2240280"/>
            <a:ext cx="1234440" cy="54864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60" y="224028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1E2761"/>
                </a:solidFill>
                <a:latin typeface="Calibri"/>
              </a:rPr>
              <a:t>2.1%</a:t>
            </a:r>
          </a:p>
        </p:txBody>
      </p:sp>
      <p:sp>
        <p:nvSpPr>
          <p:cNvPr id="28" name="Rectangle 27"/>
          <p:cNvSpPr/>
          <p:nvPr/>
        </p:nvSpPr>
        <p:spPr>
          <a:xfrm>
            <a:off x="7086600" y="2240280"/>
            <a:ext cx="1234440" cy="54864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86600" y="224028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1E2761"/>
                </a:solidFill>
                <a:latin typeface="Calibri"/>
              </a:rPr>
              <a:t>-26.7%</a:t>
            </a:r>
          </a:p>
        </p:txBody>
      </p:sp>
      <p:sp>
        <p:nvSpPr>
          <p:cNvPr id="30" name="Rectangle 29"/>
          <p:cNvSpPr/>
          <p:nvPr/>
        </p:nvSpPr>
        <p:spPr>
          <a:xfrm>
            <a:off x="8321040" y="2240280"/>
            <a:ext cx="1234440" cy="54864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0" y="224028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1E2761"/>
                </a:solidFill>
                <a:latin typeface="Calibri"/>
              </a:rPr>
              <a:t>0.52</a:t>
            </a:r>
          </a:p>
        </p:txBody>
      </p:sp>
      <p:sp>
        <p:nvSpPr>
          <p:cNvPr id="32" name="Rectangle 31"/>
          <p:cNvSpPr/>
          <p:nvPr/>
        </p:nvSpPr>
        <p:spPr>
          <a:xfrm>
            <a:off x="9555480" y="2240280"/>
            <a:ext cx="822960" cy="54864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55480" y="2240280"/>
            <a:ext cx="8229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1E2761"/>
                </a:solidFill>
                <a:latin typeface="Calibri"/>
              </a:rPr>
              <a:t>-0.03</a:t>
            </a:r>
          </a:p>
        </p:txBody>
      </p:sp>
      <p:sp>
        <p:nvSpPr>
          <p:cNvPr id="34" name="Rectangle 33"/>
          <p:cNvSpPr/>
          <p:nvPr/>
        </p:nvSpPr>
        <p:spPr>
          <a:xfrm>
            <a:off x="10378440" y="2240280"/>
            <a:ext cx="1051560" cy="54864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78440" y="2240280"/>
            <a:ext cx="10515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1E2761"/>
                </a:solidFill>
                <a:latin typeface="Calibri"/>
              </a:rPr>
              <a:t>-0.12</a:t>
            </a:r>
          </a:p>
        </p:txBody>
      </p:sp>
      <p:sp>
        <p:nvSpPr>
          <p:cNvPr id="36" name="Rectangle 35"/>
          <p:cNvSpPr/>
          <p:nvPr/>
        </p:nvSpPr>
        <p:spPr>
          <a:xfrm>
            <a:off x="640080" y="2788920"/>
            <a:ext cx="27432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2788920"/>
            <a:ext cx="2633472" cy="54864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333333"/>
                </a:solidFill>
                <a:latin typeface="Calibri"/>
              </a:rPr>
              <a:t>Momentum book (20 bps)</a:t>
            </a:r>
          </a:p>
        </p:txBody>
      </p:sp>
      <p:sp>
        <p:nvSpPr>
          <p:cNvPr id="38" name="Rectangle 37"/>
          <p:cNvSpPr/>
          <p:nvPr/>
        </p:nvSpPr>
        <p:spPr>
          <a:xfrm>
            <a:off x="3383280" y="2788920"/>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83280" y="278892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0.30</a:t>
            </a:r>
          </a:p>
        </p:txBody>
      </p:sp>
      <p:sp>
        <p:nvSpPr>
          <p:cNvPr id="40" name="Rectangle 39"/>
          <p:cNvSpPr/>
          <p:nvPr/>
        </p:nvSpPr>
        <p:spPr>
          <a:xfrm>
            <a:off x="4617720" y="2788920"/>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17720" y="278892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0.54</a:t>
            </a:r>
          </a:p>
        </p:txBody>
      </p:sp>
      <p:sp>
        <p:nvSpPr>
          <p:cNvPr id="42" name="Rectangle 41"/>
          <p:cNvSpPr/>
          <p:nvPr/>
        </p:nvSpPr>
        <p:spPr>
          <a:xfrm>
            <a:off x="5852160" y="2788920"/>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52160" y="278892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5.2%</a:t>
            </a:r>
          </a:p>
        </p:txBody>
      </p:sp>
      <p:sp>
        <p:nvSpPr>
          <p:cNvPr id="44" name="Rectangle 43"/>
          <p:cNvSpPr/>
          <p:nvPr/>
        </p:nvSpPr>
        <p:spPr>
          <a:xfrm>
            <a:off x="7086600" y="2788920"/>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86600" y="278892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-24.8%</a:t>
            </a:r>
          </a:p>
        </p:txBody>
      </p:sp>
      <p:sp>
        <p:nvSpPr>
          <p:cNvPr id="46" name="Rectangle 45"/>
          <p:cNvSpPr/>
          <p:nvPr/>
        </p:nvSpPr>
        <p:spPr>
          <a:xfrm>
            <a:off x="8321040" y="2788920"/>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21040" y="278892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0.80</a:t>
            </a:r>
          </a:p>
        </p:txBody>
      </p:sp>
      <p:sp>
        <p:nvSpPr>
          <p:cNvPr id="48" name="Rectangle 47"/>
          <p:cNvSpPr/>
          <p:nvPr/>
        </p:nvSpPr>
        <p:spPr>
          <a:xfrm>
            <a:off x="9555480" y="2788920"/>
            <a:ext cx="8229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555480" y="2788920"/>
            <a:ext cx="8229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-0.08</a:t>
            </a:r>
          </a:p>
        </p:txBody>
      </p:sp>
      <p:sp>
        <p:nvSpPr>
          <p:cNvPr id="50" name="Rectangle 49"/>
          <p:cNvSpPr/>
          <p:nvPr/>
        </p:nvSpPr>
        <p:spPr>
          <a:xfrm>
            <a:off x="10378440" y="2788920"/>
            <a:ext cx="10515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378440" y="2788920"/>
            <a:ext cx="10515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-0.18</a:t>
            </a:r>
          </a:p>
        </p:txBody>
      </p:sp>
      <p:sp>
        <p:nvSpPr>
          <p:cNvPr id="52" name="Rectangle 51"/>
          <p:cNvSpPr/>
          <p:nvPr/>
        </p:nvSpPr>
        <p:spPr>
          <a:xfrm>
            <a:off x="640080" y="3337560"/>
            <a:ext cx="274320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9808" y="3337560"/>
            <a:ext cx="2633472" cy="54864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333333"/>
                </a:solidFill>
                <a:latin typeface="Calibri"/>
              </a:rPr>
              <a:t>Reversal book (7 bps)</a:t>
            </a:r>
          </a:p>
        </p:txBody>
      </p:sp>
      <p:sp>
        <p:nvSpPr>
          <p:cNvPr id="54" name="Rectangle 53"/>
          <p:cNvSpPr/>
          <p:nvPr/>
        </p:nvSpPr>
        <p:spPr>
          <a:xfrm>
            <a:off x="3383280" y="3337560"/>
            <a:ext cx="123444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383280" y="333756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-0.07</a:t>
            </a:r>
          </a:p>
        </p:txBody>
      </p:sp>
      <p:sp>
        <p:nvSpPr>
          <p:cNvPr id="56" name="Rectangle 55"/>
          <p:cNvSpPr/>
          <p:nvPr/>
        </p:nvSpPr>
        <p:spPr>
          <a:xfrm>
            <a:off x="4617720" y="3337560"/>
            <a:ext cx="123444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17720" y="333756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0.66</a:t>
            </a:r>
          </a:p>
        </p:txBody>
      </p:sp>
      <p:sp>
        <p:nvSpPr>
          <p:cNvPr id="58" name="Rectangle 57"/>
          <p:cNvSpPr/>
          <p:nvPr/>
        </p:nvSpPr>
        <p:spPr>
          <a:xfrm>
            <a:off x="5852160" y="3337560"/>
            <a:ext cx="123444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852160" y="333756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-1.0%</a:t>
            </a:r>
          </a:p>
        </p:txBody>
      </p:sp>
      <p:sp>
        <p:nvSpPr>
          <p:cNvPr id="60" name="Rectangle 59"/>
          <p:cNvSpPr/>
          <p:nvPr/>
        </p:nvSpPr>
        <p:spPr>
          <a:xfrm>
            <a:off x="7086600" y="3337560"/>
            <a:ext cx="123444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86600" y="333756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-35.4%</a:t>
            </a:r>
          </a:p>
        </p:txBody>
      </p:sp>
      <p:sp>
        <p:nvSpPr>
          <p:cNvPr id="62" name="Rectangle 61"/>
          <p:cNvSpPr/>
          <p:nvPr/>
        </p:nvSpPr>
        <p:spPr>
          <a:xfrm>
            <a:off x="8321040" y="3337560"/>
            <a:ext cx="123444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321040" y="333756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-0.16</a:t>
            </a:r>
          </a:p>
        </p:txBody>
      </p:sp>
      <p:sp>
        <p:nvSpPr>
          <p:cNvPr id="64" name="Rectangle 63"/>
          <p:cNvSpPr/>
          <p:nvPr/>
        </p:nvSpPr>
        <p:spPr>
          <a:xfrm>
            <a:off x="9555480" y="3337560"/>
            <a:ext cx="82296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555480" y="3337560"/>
            <a:ext cx="8229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0.01</a:t>
            </a:r>
          </a:p>
        </p:txBody>
      </p:sp>
      <p:sp>
        <p:nvSpPr>
          <p:cNvPr id="66" name="Rectangle 65"/>
          <p:cNvSpPr/>
          <p:nvPr/>
        </p:nvSpPr>
        <p:spPr>
          <a:xfrm>
            <a:off x="10378440" y="3337560"/>
            <a:ext cx="105156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378440" y="3337560"/>
            <a:ext cx="10515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0.03</a:t>
            </a:r>
          </a:p>
        </p:txBody>
      </p:sp>
      <p:sp>
        <p:nvSpPr>
          <p:cNvPr id="68" name="Rectangle 67"/>
          <p:cNvSpPr/>
          <p:nvPr/>
        </p:nvSpPr>
        <p:spPr>
          <a:xfrm>
            <a:off x="640080" y="3886200"/>
            <a:ext cx="27432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9808" y="3886200"/>
            <a:ext cx="2633472" cy="54864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333333"/>
                </a:solidFill>
                <a:latin typeface="Calibri"/>
              </a:rPr>
              <a:t>Cointegrated pairs</a:t>
            </a:r>
          </a:p>
        </p:txBody>
      </p:sp>
      <p:sp>
        <p:nvSpPr>
          <p:cNvPr id="70" name="Rectangle 69"/>
          <p:cNvSpPr/>
          <p:nvPr/>
        </p:nvSpPr>
        <p:spPr>
          <a:xfrm>
            <a:off x="3383280" y="3886200"/>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383280" y="388620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0.64</a:t>
            </a:r>
          </a:p>
        </p:txBody>
      </p:sp>
      <p:sp>
        <p:nvSpPr>
          <p:cNvPr id="72" name="Rectangle 71"/>
          <p:cNvSpPr/>
          <p:nvPr/>
        </p:nvSpPr>
        <p:spPr>
          <a:xfrm>
            <a:off x="4617720" y="3886200"/>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617720" y="388620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-0.90</a:t>
            </a:r>
          </a:p>
        </p:txBody>
      </p:sp>
      <p:sp>
        <p:nvSpPr>
          <p:cNvPr id="74" name="Rectangle 73"/>
          <p:cNvSpPr/>
          <p:nvPr/>
        </p:nvSpPr>
        <p:spPr>
          <a:xfrm>
            <a:off x="5852160" y="3886200"/>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852160" y="388620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2.7%</a:t>
            </a:r>
          </a:p>
        </p:txBody>
      </p:sp>
      <p:sp>
        <p:nvSpPr>
          <p:cNvPr id="76" name="Rectangle 75"/>
          <p:cNvSpPr/>
          <p:nvPr/>
        </p:nvSpPr>
        <p:spPr>
          <a:xfrm>
            <a:off x="7086600" y="3886200"/>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086600" y="388620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-5.6%</a:t>
            </a:r>
          </a:p>
        </p:txBody>
      </p:sp>
      <p:sp>
        <p:nvSpPr>
          <p:cNvPr id="78" name="Rectangle 77"/>
          <p:cNvSpPr/>
          <p:nvPr/>
        </p:nvSpPr>
        <p:spPr>
          <a:xfrm>
            <a:off x="8321040" y="3886200"/>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21040" y="388620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1.20</a:t>
            </a:r>
          </a:p>
        </p:txBody>
      </p:sp>
      <p:sp>
        <p:nvSpPr>
          <p:cNvPr id="80" name="Rectangle 79"/>
          <p:cNvSpPr/>
          <p:nvPr/>
        </p:nvSpPr>
        <p:spPr>
          <a:xfrm>
            <a:off x="9555480" y="3886200"/>
            <a:ext cx="8229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555480" y="3886200"/>
            <a:ext cx="8229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0.01</a:t>
            </a:r>
          </a:p>
        </p:txBody>
      </p:sp>
      <p:sp>
        <p:nvSpPr>
          <p:cNvPr id="82" name="Rectangle 81"/>
          <p:cNvSpPr/>
          <p:nvPr/>
        </p:nvSpPr>
        <p:spPr>
          <a:xfrm>
            <a:off x="10378440" y="3886200"/>
            <a:ext cx="10515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78440" y="3886200"/>
            <a:ext cx="10515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0.06</a:t>
            </a:r>
          </a:p>
        </p:txBody>
      </p:sp>
      <p:sp>
        <p:nvSpPr>
          <p:cNvPr id="84" name="Rectangle 83"/>
          <p:cNvSpPr/>
          <p:nvPr/>
        </p:nvSpPr>
        <p:spPr>
          <a:xfrm>
            <a:off x="640080" y="4434840"/>
            <a:ext cx="274320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49808" y="4434840"/>
            <a:ext cx="2633472" cy="54864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333333"/>
                </a:solidFill>
                <a:latin typeface="Calibri"/>
              </a:rPr>
              <a:t>Equal-weight crypto</a:t>
            </a:r>
          </a:p>
        </p:txBody>
      </p:sp>
      <p:sp>
        <p:nvSpPr>
          <p:cNvPr id="86" name="Rectangle 85"/>
          <p:cNvSpPr/>
          <p:nvPr/>
        </p:nvSpPr>
        <p:spPr>
          <a:xfrm>
            <a:off x="3383280" y="4434840"/>
            <a:ext cx="123444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383280" y="443484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0.19</a:t>
            </a:r>
          </a:p>
        </p:txBody>
      </p:sp>
      <p:sp>
        <p:nvSpPr>
          <p:cNvPr id="88" name="Rectangle 87"/>
          <p:cNvSpPr/>
          <p:nvPr/>
        </p:nvSpPr>
        <p:spPr>
          <a:xfrm>
            <a:off x="4617720" y="4434840"/>
            <a:ext cx="123444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617720" y="443484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-0.13</a:t>
            </a:r>
          </a:p>
        </p:txBody>
      </p:sp>
      <p:sp>
        <p:nvSpPr>
          <p:cNvPr id="90" name="Rectangle 89"/>
          <p:cNvSpPr/>
          <p:nvPr/>
        </p:nvSpPr>
        <p:spPr>
          <a:xfrm>
            <a:off x="5852160" y="4434840"/>
            <a:ext cx="123444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852160" y="443484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10.1%</a:t>
            </a:r>
          </a:p>
        </p:txBody>
      </p:sp>
      <p:sp>
        <p:nvSpPr>
          <p:cNvPr id="92" name="Rectangle 91"/>
          <p:cNvSpPr/>
          <p:nvPr/>
        </p:nvSpPr>
        <p:spPr>
          <a:xfrm>
            <a:off x="7086600" y="4434840"/>
            <a:ext cx="123444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086600" y="443484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-74.4%</a:t>
            </a:r>
          </a:p>
        </p:txBody>
      </p:sp>
      <p:sp>
        <p:nvSpPr>
          <p:cNvPr id="94" name="Rectangle 93"/>
          <p:cNvSpPr/>
          <p:nvPr/>
        </p:nvSpPr>
        <p:spPr>
          <a:xfrm>
            <a:off x="8321040" y="4434840"/>
            <a:ext cx="123444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321040" y="4434840"/>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-0.92</a:t>
            </a:r>
          </a:p>
        </p:txBody>
      </p:sp>
      <p:sp>
        <p:nvSpPr>
          <p:cNvPr id="96" name="Rectangle 95"/>
          <p:cNvSpPr/>
          <p:nvPr/>
        </p:nvSpPr>
        <p:spPr>
          <a:xfrm>
            <a:off x="9555480" y="4434840"/>
            <a:ext cx="82296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555480" y="4434840"/>
            <a:ext cx="8229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1.05</a:t>
            </a:r>
          </a:p>
        </p:txBody>
      </p:sp>
      <p:sp>
        <p:nvSpPr>
          <p:cNvPr id="98" name="Rectangle 97"/>
          <p:cNvSpPr/>
          <p:nvPr/>
        </p:nvSpPr>
        <p:spPr>
          <a:xfrm>
            <a:off x="10378440" y="4434840"/>
            <a:ext cx="1051560" cy="5486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378440" y="4434840"/>
            <a:ext cx="10515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0.79</a:t>
            </a:r>
          </a:p>
        </p:txBody>
      </p:sp>
      <p:sp>
        <p:nvSpPr>
          <p:cNvPr id="100" name="Rectangle 99"/>
          <p:cNvSpPr/>
          <p:nvPr/>
        </p:nvSpPr>
        <p:spPr>
          <a:xfrm>
            <a:off x="640080" y="4983479"/>
            <a:ext cx="27432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49808" y="4983479"/>
            <a:ext cx="2633472" cy="54864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333333"/>
                </a:solidFill>
                <a:latin typeface="Calibri"/>
              </a:rPr>
              <a:t>Buy &amp; hold BTC</a:t>
            </a:r>
          </a:p>
        </p:txBody>
      </p:sp>
      <p:sp>
        <p:nvSpPr>
          <p:cNvPr id="102" name="Rectangle 101"/>
          <p:cNvSpPr/>
          <p:nvPr/>
        </p:nvSpPr>
        <p:spPr>
          <a:xfrm>
            <a:off x="3383280" y="4983479"/>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383280" y="4983479"/>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0.61</a:t>
            </a:r>
          </a:p>
        </p:txBody>
      </p:sp>
      <p:sp>
        <p:nvSpPr>
          <p:cNvPr id="104" name="Rectangle 103"/>
          <p:cNvSpPr/>
          <p:nvPr/>
        </p:nvSpPr>
        <p:spPr>
          <a:xfrm>
            <a:off x="4617720" y="4983479"/>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617720" y="4983479"/>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0.09</a:t>
            </a:r>
          </a:p>
        </p:txBody>
      </p:sp>
      <p:sp>
        <p:nvSpPr>
          <p:cNvPr id="106" name="Rectangle 105"/>
          <p:cNvSpPr/>
          <p:nvPr/>
        </p:nvSpPr>
        <p:spPr>
          <a:xfrm>
            <a:off x="5852160" y="4983479"/>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852160" y="4983479"/>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24.1%</a:t>
            </a:r>
          </a:p>
        </p:txBody>
      </p:sp>
      <p:sp>
        <p:nvSpPr>
          <p:cNvPr id="108" name="Rectangle 107"/>
          <p:cNvSpPr/>
          <p:nvPr/>
        </p:nvSpPr>
        <p:spPr>
          <a:xfrm>
            <a:off x="7086600" y="4983479"/>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086600" y="4983479"/>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-53.1%</a:t>
            </a:r>
          </a:p>
        </p:txBody>
      </p:sp>
      <p:sp>
        <p:nvSpPr>
          <p:cNvPr id="110" name="Rectangle 109"/>
          <p:cNvSpPr/>
          <p:nvPr/>
        </p:nvSpPr>
        <p:spPr>
          <a:xfrm>
            <a:off x="8321040" y="4983479"/>
            <a:ext cx="123444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321040" y="4983479"/>
            <a:ext cx="12344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0.33</a:t>
            </a:r>
          </a:p>
        </p:txBody>
      </p:sp>
      <p:sp>
        <p:nvSpPr>
          <p:cNvPr id="112" name="Rectangle 111"/>
          <p:cNvSpPr/>
          <p:nvPr/>
        </p:nvSpPr>
        <p:spPr>
          <a:xfrm>
            <a:off x="9555480" y="4983479"/>
            <a:ext cx="8229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555480" y="4983479"/>
            <a:ext cx="8229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1.00</a:t>
            </a:r>
          </a:p>
        </p:txBody>
      </p:sp>
      <p:sp>
        <p:nvSpPr>
          <p:cNvPr id="114" name="Rectangle 113"/>
          <p:cNvSpPr/>
          <p:nvPr/>
        </p:nvSpPr>
        <p:spPr>
          <a:xfrm>
            <a:off x="10378440" y="4983479"/>
            <a:ext cx="10515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378440" y="4983479"/>
            <a:ext cx="105156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1300" b="0" i="0">
                <a:solidFill>
                  <a:srgbClr val="333333"/>
                </a:solidFill>
                <a:latin typeface="Calibri"/>
              </a:rPr>
              <a:t>1.00</a:t>
            </a:r>
          </a:p>
        </p:txBody>
      </p:sp>
      <p:sp>
        <p:nvSpPr>
          <p:cNvPr id="116" name="TextBox 115"/>
          <p:cNvSpPr txBox="1"/>
          <p:nvPr/>
        </p:nvSpPr>
        <p:spPr>
          <a:xfrm>
            <a:off x="640080" y="5669279"/>
            <a:ext cx="10972800" cy="548640"/>
          </a:xfrm>
          <a:prstGeom prst="rect">
            <a:avLst/>
          </a:prstGeom>
          <a:noFill/>
        </p:spPr>
        <p:txBody>
          <a:bodyPr wrap="square" anchor="t" lIns="0" rIns="0" tIns="0" bIns="0">
            <a:spAutoFit/>
          </a:bodyPr>
          <a:lstStyle/>
          <a:p>
            <a:pPr algn="l">
              <a:lnSpc>
                <a:spcPct val="100000"/>
              </a:lnSpc>
              <a:spcBef>
                <a:spcPts val="0"/>
              </a:spcBef>
              <a:spcAft>
                <a:spcPts val="400"/>
              </a:spcAft>
            </a:pPr>
            <a:r>
              <a:rPr sz="1200" b="0" i="1">
                <a:solidFill>
                  <a:srgbClr val="5A5A5A"/>
                </a:solidFill>
                <a:latin typeface="Calibri"/>
              </a:rPr>
              <a:t>Hold-out 2024-01-01 to 2026-10-08; research 2021-12-28 to 2023-12-31. Sharpe x sqrt(252). Alpha / beta / correlation vs daily BTC returns, Newey-West t.</a:t>
            </a:r>
          </a:p>
        </p:txBody>
      </p:sp>
      <p:sp>
        <p:nvSpPr>
          <p:cNvPr id="117" name="TextBox 116"/>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B8DEF"/>
                </a:solidFill>
                <a:latin typeface="Calibri"/>
              </a:rPr>
              <a:t>RESULTS</a:t>
            </a:r>
          </a:p>
        </p:txBody>
      </p:sp>
      <p:sp>
        <p:nvSpPr>
          <p:cNvPr id="3" name="TextBox 2"/>
          <p:cNvSpPr txBox="1"/>
          <p:nvPr/>
        </p:nvSpPr>
        <p:spPr>
          <a:xfrm>
            <a:off x="640080" y="731520"/>
            <a:ext cx="1097280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761"/>
                </a:solidFill>
                <a:latin typeface="Cambria"/>
              </a:rPr>
              <a:t>Growth of $1, and what the corrections changed</a:t>
            </a:r>
          </a:p>
        </p:txBody>
      </p:sp>
      <p:pic>
        <p:nvPicPr>
          <p:cNvPr id="4" name="Picture 3" descr="J_equity_curves.png"/>
          <p:cNvPicPr>
            <a:picLocks noChangeAspect="1"/>
          </p:cNvPicPr>
          <p:nvPr/>
        </p:nvPicPr>
        <p:blipFill>
          <a:blip r:embed="rId2"/>
          <a:stretch>
            <a:fillRect/>
          </a:stretch>
        </p:blipFill>
        <p:spPr>
          <a:xfrm>
            <a:off x="411480" y="1554480"/>
            <a:ext cx="6949440" cy="3158836"/>
          </a:xfrm>
          <a:prstGeom prst="rect">
            <a:avLst/>
          </a:prstGeom>
        </p:spPr>
      </p:pic>
      <p:sp>
        <p:nvSpPr>
          <p:cNvPr id="5" name="Rectangle 4"/>
          <p:cNvSpPr/>
          <p:nvPr/>
        </p:nvSpPr>
        <p:spPr>
          <a:xfrm>
            <a:off x="7589520" y="1737360"/>
            <a:ext cx="173736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99248" y="1737360"/>
            <a:ext cx="1627631" cy="502920"/>
          </a:xfrm>
          <a:prstGeom prst="rect">
            <a:avLst/>
          </a:prstGeom>
          <a:noFill/>
        </p:spPr>
        <p:txBody>
          <a:bodyPr wrap="square" anchor="ctr" lIns="0" rIns="0" tIns="0" bIns="0">
            <a:spAutoFit/>
          </a:bodyPr>
          <a:lstStyle/>
          <a:p>
            <a:pPr algn="l">
              <a:lnSpc>
                <a:spcPct val="100000"/>
              </a:lnSpc>
              <a:spcBef>
                <a:spcPts val="0"/>
              </a:spcBef>
              <a:spcAft>
                <a:spcPts val="400"/>
              </a:spcAft>
            </a:pPr>
            <a:r>
              <a:rPr sz="1200" b="1" i="0">
                <a:solidFill>
                  <a:srgbClr val="FFFFFF"/>
                </a:solidFill>
                <a:latin typeface="Calibri"/>
              </a:rPr>
              <a:t>Combined Sharpe</a:t>
            </a:r>
          </a:p>
        </p:txBody>
      </p:sp>
      <p:sp>
        <p:nvSpPr>
          <p:cNvPr id="7" name="Rectangle 6"/>
          <p:cNvSpPr/>
          <p:nvPr/>
        </p:nvSpPr>
        <p:spPr>
          <a:xfrm>
            <a:off x="9326880" y="1737360"/>
            <a:ext cx="73152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737360"/>
            <a:ext cx="73152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V1</a:t>
            </a:r>
          </a:p>
        </p:txBody>
      </p:sp>
      <p:sp>
        <p:nvSpPr>
          <p:cNvPr id="9" name="Rectangle 8"/>
          <p:cNvSpPr/>
          <p:nvPr/>
        </p:nvSpPr>
        <p:spPr>
          <a:xfrm>
            <a:off x="10058400" y="1737360"/>
            <a:ext cx="86868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0" y="1737360"/>
            <a:ext cx="86868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V1 @252</a:t>
            </a:r>
          </a:p>
        </p:txBody>
      </p:sp>
      <p:sp>
        <p:nvSpPr>
          <p:cNvPr id="11" name="Rectangle 10"/>
          <p:cNvSpPr/>
          <p:nvPr/>
        </p:nvSpPr>
        <p:spPr>
          <a:xfrm>
            <a:off x="10927080" y="1737360"/>
            <a:ext cx="73152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7080" y="1737360"/>
            <a:ext cx="73152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V2</a:t>
            </a:r>
          </a:p>
        </p:txBody>
      </p:sp>
      <p:sp>
        <p:nvSpPr>
          <p:cNvPr id="13" name="Rectangle 12"/>
          <p:cNvSpPr/>
          <p:nvPr/>
        </p:nvSpPr>
        <p:spPr>
          <a:xfrm>
            <a:off x="7589520" y="2240280"/>
            <a:ext cx="1737360" cy="5029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240280"/>
            <a:ext cx="1627631" cy="50292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333333"/>
                </a:solidFill>
                <a:latin typeface="Calibri"/>
              </a:rPr>
              <a:t>Full backtest</a:t>
            </a:r>
          </a:p>
        </p:txBody>
      </p:sp>
      <p:sp>
        <p:nvSpPr>
          <p:cNvPr id="15" name="Rectangle 14"/>
          <p:cNvSpPr/>
          <p:nvPr/>
        </p:nvSpPr>
        <p:spPr>
          <a:xfrm>
            <a:off x="9326880" y="2240280"/>
            <a:ext cx="731520" cy="5029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2240280"/>
            <a:ext cx="73152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1.02</a:t>
            </a:r>
          </a:p>
        </p:txBody>
      </p:sp>
      <p:sp>
        <p:nvSpPr>
          <p:cNvPr id="17" name="Rectangle 16"/>
          <p:cNvSpPr/>
          <p:nvPr/>
        </p:nvSpPr>
        <p:spPr>
          <a:xfrm>
            <a:off x="10058400" y="2240280"/>
            <a:ext cx="868680" cy="5029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0" y="2240280"/>
            <a:ext cx="86868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0.85</a:t>
            </a:r>
          </a:p>
        </p:txBody>
      </p:sp>
      <p:sp>
        <p:nvSpPr>
          <p:cNvPr id="19" name="Rectangle 18"/>
          <p:cNvSpPr/>
          <p:nvPr/>
        </p:nvSpPr>
        <p:spPr>
          <a:xfrm>
            <a:off x="10927080" y="2240280"/>
            <a:ext cx="731520" cy="5029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27080" y="2240280"/>
            <a:ext cx="73152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0.50</a:t>
            </a:r>
          </a:p>
        </p:txBody>
      </p:sp>
      <p:sp>
        <p:nvSpPr>
          <p:cNvPr id="21" name="Rectangle 20"/>
          <p:cNvSpPr/>
          <p:nvPr/>
        </p:nvSpPr>
        <p:spPr>
          <a:xfrm>
            <a:off x="7589520" y="2743200"/>
            <a:ext cx="1737360" cy="50292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2743200"/>
            <a:ext cx="1627631" cy="50292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1E2761"/>
                </a:solidFill>
                <a:latin typeface="Calibri"/>
              </a:rPr>
              <a:t>Hold-out</a:t>
            </a:r>
          </a:p>
        </p:txBody>
      </p:sp>
      <p:sp>
        <p:nvSpPr>
          <p:cNvPr id="23" name="Rectangle 22"/>
          <p:cNvSpPr/>
          <p:nvPr/>
        </p:nvSpPr>
        <p:spPr>
          <a:xfrm>
            <a:off x="9326880" y="2743200"/>
            <a:ext cx="731520" cy="50292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2743200"/>
            <a:ext cx="73152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1E2761"/>
                </a:solidFill>
                <a:latin typeface="Calibri"/>
              </a:rPr>
              <a:t>0.55</a:t>
            </a:r>
          </a:p>
        </p:txBody>
      </p:sp>
      <p:sp>
        <p:nvSpPr>
          <p:cNvPr id="25" name="Rectangle 24"/>
          <p:cNvSpPr/>
          <p:nvPr/>
        </p:nvSpPr>
        <p:spPr>
          <a:xfrm>
            <a:off x="10058400" y="2743200"/>
            <a:ext cx="868680" cy="50292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0" y="2743200"/>
            <a:ext cx="86868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1E2761"/>
                </a:solidFill>
                <a:latin typeface="Calibri"/>
              </a:rPr>
              <a:t>0.46</a:t>
            </a:r>
          </a:p>
        </p:txBody>
      </p:sp>
      <p:sp>
        <p:nvSpPr>
          <p:cNvPr id="27" name="Rectangle 26"/>
          <p:cNvSpPr/>
          <p:nvPr/>
        </p:nvSpPr>
        <p:spPr>
          <a:xfrm>
            <a:off x="10927080" y="2743200"/>
            <a:ext cx="731520" cy="502920"/>
          </a:xfrm>
          <a:prstGeom prst="rect">
            <a:avLst/>
          </a:prstGeom>
          <a:solidFill>
            <a:srgbClr val="E9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27080" y="2743200"/>
            <a:ext cx="73152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1E2761"/>
                </a:solidFill>
                <a:latin typeface="Calibri"/>
              </a:rPr>
              <a:t>0.20</a:t>
            </a:r>
          </a:p>
        </p:txBody>
      </p:sp>
      <p:sp>
        <p:nvSpPr>
          <p:cNvPr id="29" name="Rectangle 28"/>
          <p:cNvSpPr/>
          <p:nvPr/>
        </p:nvSpPr>
        <p:spPr>
          <a:xfrm>
            <a:off x="7589520" y="3246120"/>
            <a:ext cx="1737360" cy="5029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9248" y="3246120"/>
            <a:ext cx="1627631" cy="50292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333333"/>
                </a:solidFill>
                <a:latin typeface="Calibri"/>
              </a:rPr>
              <a:t>Hold-out alpha t</a:t>
            </a:r>
          </a:p>
        </p:txBody>
      </p:sp>
      <p:sp>
        <p:nvSpPr>
          <p:cNvPr id="31" name="Rectangle 30"/>
          <p:cNvSpPr/>
          <p:nvPr/>
        </p:nvSpPr>
        <p:spPr>
          <a:xfrm>
            <a:off x="9326880" y="3246120"/>
            <a:ext cx="731520" cy="5029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246120"/>
            <a:ext cx="73152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0.90</a:t>
            </a:r>
          </a:p>
        </p:txBody>
      </p:sp>
      <p:sp>
        <p:nvSpPr>
          <p:cNvPr id="33" name="Rectangle 32"/>
          <p:cNvSpPr/>
          <p:nvPr/>
        </p:nvSpPr>
        <p:spPr>
          <a:xfrm>
            <a:off x="10058400" y="3246120"/>
            <a:ext cx="868680" cy="5029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0" y="3246120"/>
            <a:ext cx="86868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0.90</a:t>
            </a:r>
          </a:p>
        </p:txBody>
      </p:sp>
      <p:sp>
        <p:nvSpPr>
          <p:cNvPr id="35" name="Rectangle 34"/>
          <p:cNvSpPr/>
          <p:nvPr/>
        </p:nvSpPr>
        <p:spPr>
          <a:xfrm>
            <a:off x="10927080" y="3246120"/>
            <a:ext cx="731520" cy="5029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27080" y="3246120"/>
            <a:ext cx="73152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0.52</a:t>
            </a:r>
          </a:p>
        </p:txBody>
      </p:sp>
      <p:sp>
        <p:nvSpPr>
          <p:cNvPr id="37" name="Rectangle 36"/>
          <p:cNvSpPr/>
          <p:nvPr/>
        </p:nvSpPr>
        <p:spPr>
          <a:xfrm>
            <a:off x="7589520" y="3749039"/>
            <a:ext cx="173736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99248" y="3749039"/>
            <a:ext cx="1627631" cy="50292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333333"/>
                </a:solidFill>
                <a:latin typeface="Calibri"/>
              </a:rPr>
              <a:t>Corr BTC (full)</a:t>
            </a:r>
          </a:p>
        </p:txBody>
      </p:sp>
      <p:sp>
        <p:nvSpPr>
          <p:cNvPr id="39" name="Rectangle 38"/>
          <p:cNvSpPr/>
          <p:nvPr/>
        </p:nvSpPr>
        <p:spPr>
          <a:xfrm>
            <a:off x="9326880" y="3749039"/>
            <a:ext cx="7315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0" y="3749039"/>
            <a:ext cx="73152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-0.05</a:t>
            </a:r>
          </a:p>
        </p:txBody>
      </p:sp>
      <p:sp>
        <p:nvSpPr>
          <p:cNvPr id="41" name="Rectangle 40"/>
          <p:cNvSpPr/>
          <p:nvPr/>
        </p:nvSpPr>
        <p:spPr>
          <a:xfrm>
            <a:off x="10058400" y="3749039"/>
            <a:ext cx="8686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0" y="3749039"/>
            <a:ext cx="86868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-0.05</a:t>
            </a:r>
          </a:p>
        </p:txBody>
      </p:sp>
      <p:sp>
        <p:nvSpPr>
          <p:cNvPr id="43" name="Rectangle 42"/>
          <p:cNvSpPr/>
          <p:nvPr/>
        </p:nvSpPr>
        <p:spPr>
          <a:xfrm>
            <a:off x="10927080" y="3749039"/>
            <a:ext cx="7315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927080" y="3749039"/>
            <a:ext cx="73152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250" b="0" i="0">
                <a:solidFill>
                  <a:srgbClr val="333333"/>
                </a:solidFill>
                <a:latin typeface="Calibri"/>
              </a:rPr>
              <a:t>-0.13</a:t>
            </a:r>
          </a:p>
        </p:txBody>
      </p:sp>
      <p:sp>
        <p:nvSpPr>
          <p:cNvPr id="45" name="TextBox 44"/>
          <p:cNvSpPr txBox="1"/>
          <p:nvPr/>
        </p:nvSpPr>
        <p:spPr>
          <a:xfrm>
            <a:off x="640080" y="5074920"/>
            <a:ext cx="10972800" cy="1280160"/>
          </a:xfrm>
          <a:prstGeom prst="rect">
            <a:avLst/>
          </a:prstGeom>
          <a:noFill/>
        </p:spPr>
        <p:txBody>
          <a:bodyPr wrap="square" lIns="0" rIns="0" tIns="0" bIns="0">
            <a:spAutoFit/>
          </a:bodyPr>
          <a:lstStyle/>
          <a:p>
            <a:pPr>
              <a:lnSpc>
                <a:spcPct val="105000"/>
              </a:lnSpc>
              <a:spcBef>
                <a:spcPts val="0"/>
              </a:spcBef>
              <a:spcAft>
                <a:spcPts val="800"/>
              </a:spcAft>
            </a:pPr>
            <a:r>
              <a:rPr sz="1350" b="1">
                <a:solidFill>
                  <a:srgbClr val="5B8DEF"/>
                </a:solidFill>
                <a:latin typeface="Calibri"/>
              </a:rPr>
              <a:t>-  </a:t>
            </a:r>
            <a:r>
              <a:rPr sz="1350" b="1">
                <a:solidFill>
                  <a:srgbClr val="1E2761"/>
                </a:solidFill>
                <a:latin typeface="Calibri"/>
              </a:rPr>
              <a:t>Convention: </a:t>
            </a:r>
            <a:r>
              <a:rPr sz="1350" b="0">
                <a:solidFill>
                  <a:srgbClr val="1E2761"/>
                </a:solidFill>
                <a:latin typeface="Calibri"/>
              </a:rPr>
              <a:t>sqrt(252) lowers every Sharpe by 17%.</a:t>
            </a:r>
          </a:p>
          <a:p>
            <a:pPr>
              <a:lnSpc>
                <a:spcPct val="105000"/>
              </a:lnSpc>
              <a:spcBef>
                <a:spcPts val="0"/>
              </a:spcBef>
              <a:spcAft>
                <a:spcPts val="800"/>
              </a:spcAft>
            </a:pPr>
            <a:r>
              <a:rPr sz="1350" b="1">
                <a:solidFill>
                  <a:srgbClr val="5B8DEF"/>
                </a:solidFill>
                <a:latin typeface="Calibri"/>
              </a:rPr>
              <a:t>-  </a:t>
            </a:r>
            <a:r>
              <a:rPr sz="1350" b="1">
                <a:solidFill>
                  <a:srgbClr val="1E2761"/>
                </a:solidFill>
                <a:latin typeface="Calibri"/>
              </a:rPr>
              <a:t>Universe + protocol: </a:t>
            </a:r>
            <a:r>
              <a:rPr sz="1350" b="0">
                <a:solidFill>
                  <a:srgbClr val="1E2761"/>
                </a:solidFill>
                <a:latin typeface="Calibri"/>
              </a:rPr>
              <a:t>survivorship-free coins and decisions on 2021-23 only take the hold-out from 0.46 to 0.20. The lower number is the credible one.</a:t>
            </a:r>
          </a:p>
        </p:txBody>
      </p:sp>
      <p:sp>
        <p:nvSpPr>
          <p:cNvPr id="46" name="TextBox 45"/>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8046720" y="-1280160"/>
            <a:ext cx="5486400" cy="5486400"/>
          </a:xfrm>
          <a:prstGeom prst="ellipse">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CADCFC"/>
                </a:solidFill>
                <a:latin typeface="Calibri"/>
              </a:rPr>
              <a:t>CONCLUSION</a:t>
            </a:r>
          </a:p>
        </p:txBody>
      </p:sp>
      <p:sp>
        <p:nvSpPr>
          <p:cNvPr id="4" name="TextBox 3"/>
          <p:cNvSpPr txBox="1"/>
          <p:nvPr/>
        </p:nvSpPr>
        <p:spPr>
          <a:xfrm>
            <a:off x="731520" y="1051560"/>
            <a:ext cx="10515600" cy="914400"/>
          </a:xfrm>
          <a:prstGeom prst="rect">
            <a:avLst/>
          </a:prstGeom>
          <a:noFill/>
        </p:spPr>
        <p:txBody>
          <a:bodyPr wrap="square" anchor="t" lIns="0" rIns="0" tIns="0" bIns="0">
            <a:spAutoFit/>
          </a:bodyPr>
          <a:lstStyle/>
          <a:p>
            <a:pPr algn="l">
              <a:lnSpc>
                <a:spcPct val="100000"/>
              </a:lnSpc>
              <a:spcBef>
                <a:spcPts val="0"/>
              </a:spcBef>
              <a:spcAft>
                <a:spcPts val="400"/>
              </a:spcAft>
            </a:pPr>
            <a:r>
              <a:rPr sz="3200" b="1" i="0">
                <a:solidFill>
                  <a:srgbClr val="FFFFFF"/>
                </a:solidFill>
                <a:latin typeface="Cambria"/>
              </a:rPr>
              <a:t>How you select matters as much as what you select</a:t>
            </a:r>
          </a:p>
        </p:txBody>
      </p:sp>
      <p:sp>
        <p:nvSpPr>
          <p:cNvPr id="5" name="TextBox 4"/>
          <p:cNvSpPr txBox="1"/>
          <p:nvPr/>
        </p:nvSpPr>
        <p:spPr>
          <a:xfrm>
            <a:off x="731520" y="2194560"/>
            <a:ext cx="7680960" cy="3108960"/>
          </a:xfrm>
          <a:prstGeom prst="rect">
            <a:avLst/>
          </a:prstGeom>
          <a:noFill/>
        </p:spPr>
        <p:txBody>
          <a:bodyPr wrap="square" lIns="0" rIns="0" tIns="0" bIns="0">
            <a:spAutoFit/>
          </a:bodyPr>
          <a:lstStyle/>
          <a:p>
            <a:pPr>
              <a:lnSpc>
                <a:spcPct val="105000"/>
              </a:lnSpc>
              <a:spcBef>
                <a:spcPts val="0"/>
              </a:spcBef>
              <a:spcAft>
                <a:spcPts val="1400"/>
              </a:spcAft>
            </a:pPr>
            <a:r>
              <a:rPr sz="1600" b="1">
                <a:solidFill>
                  <a:srgbClr val="CADCFC"/>
                </a:solidFill>
                <a:latin typeface="Calibri"/>
              </a:rPr>
              <a:t>-  </a:t>
            </a:r>
            <a:r>
              <a:rPr sz="1600" b="1">
                <a:solidFill>
                  <a:srgbClr val="FFFFFF"/>
                </a:solidFill>
                <a:latin typeface="Calibri"/>
              </a:rPr>
              <a:t>Patterns are real: </a:t>
            </a:r>
            <a:r>
              <a:rPr sz="1600" b="0">
                <a:solidFill>
                  <a:srgbClr val="FFFFFF"/>
                </a:solidFill>
                <a:latin typeface="Calibri"/>
              </a:rPr>
              <a:t>cross-sectional reversal, 1-4 week trends, weekend and implied-vol effects.</a:t>
            </a:r>
          </a:p>
          <a:p>
            <a:pPr>
              <a:lnSpc>
                <a:spcPct val="105000"/>
              </a:lnSpc>
              <a:spcBef>
                <a:spcPts val="0"/>
              </a:spcBef>
              <a:spcAft>
                <a:spcPts val="1400"/>
              </a:spcAft>
            </a:pPr>
            <a:r>
              <a:rPr sz="1600" b="1">
                <a:solidFill>
                  <a:srgbClr val="CADCFC"/>
                </a:solidFill>
                <a:latin typeface="Calibri"/>
              </a:rPr>
              <a:t>-  </a:t>
            </a:r>
            <a:r>
              <a:rPr sz="1600" b="1">
                <a:solidFill>
                  <a:srgbClr val="FFFFFF"/>
                </a:solidFill>
                <a:latin typeface="Calibri"/>
              </a:rPr>
              <a:t>Most do not survive costs </a:t>
            </a:r>
            <a:r>
              <a:rPr sz="1600" b="0">
                <a:solidFill>
                  <a:srgbClr val="FFFFFF"/>
                </a:solidFill>
                <a:latin typeface="Calibri"/>
              </a:rPr>
              <a:t>or an honest hold-out.</a:t>
            </a:r>
          </a:p>
          <a:p>
            <a:pPr>
              <a:lnSpc>
                <a:spcPct val="105000"/>
              </a:lnSpc>
              <a:spcBef>
                <a:spcPts val="0"/>
              </a:spcBef>
              <a:spcAft>
                <a:spcPts val="1400"/>
              </a:spcAft>
            </a:pPr>
            <a:r>
              <a:rPr sz="1600" b="1">
                <a:solidFill>
                  <a:srgbClr val="CADCFC"/>
                </a:solidFill>
                <a:latin typeface="Calibri"/>
              </a:rPr>
              <a:t>-  </a:t>
            </a:r>
            <a:r>
              <a:rPr sz="1600" b="1">
                <a:solidFill>
                  <a:srgbClr val="FFFFFF"/>
                </a:solidFill>
                <a:latin typeface="Calibri"/>
              </a:rPr>
              <a:t>One survivor: </a:t>
            </a:r>
            <a:r>
              <a:rPr sz="1600" b="0">
                <a:solidFill>
                  <a:srgbClr val="FFFFFF"/>
                </a:solidFill>
                <a:latin typeface="Calibri"/>
              </a:rPr>
              <a:t>time-series momentum with a DVOL filter.</a:t>
            </a:r>
          </a:p>
          <a:p>
            <a:pPr>
              <a:lnSpc>
                <a:spcPct val="105000"/>
              </a:lnSpc>
              <a:spcBef>
                <a:spcPts val="0"/>
              </a:spcBef>
              <a:spcAft>
                <a:spcPts val="1400"/>
              </a:spcAft>
            </a:pPr>
            <a:r>
              <a:rPr sz="1600" b="1">
                <a:solidFill>
                  <a:srgbClr val="CADCFC"/>
                </a:solidFill>
                <a:latin typeface="Calibri"/>
              </a:rPr>
              <a:t>-  </a:t>
            </a:r>
            <a:r>
              <a:rPr sz="1600" b="1">
                <a:solidFill>
                  <a:srgbClr val="FFFFFF"/>
                </a:solidFill>
                <a:latin typeface="Calibri"/>
              </a:rPr>
              <a:t>Next: </a:t>
            </a:r>
            <a:r>
              <a:rPr sz="1600" b="0">
                <a:solidFill>
                  <a:srgbClr val="FFFFFF"/>
                </a:solidFill>
                <a:latin typeface="Calibri"/>
              </a:rPr>
              <a:t>paper-trade it live; add funding costs and a liquidity screen.</a:t>
            </a:r>
          </a:p>
        </p:txBody>
      </p:sp>
      <p:sp>
        <p:nvSpPr>
          <p:cNvPr id="6" name="Rounded Rectangle 5"/>
          <p:cNvSpPr/>
          <p:nvPr/>
        </p:nvSpPr>
        <p:spPr>
          <a:xfrm>
            <a:off x="731520" y="5486400"/>
            <a:ext cx="10698480" cy="960120"/>
          </a:xfrm>
          <a:prstGeom prst="roundRect">
            <a:avLst>
              <a:gd name="adj" fmla="val 8000"/>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5596128"/>
            <a:ext cx="2560320" cy="50292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FFFFFF"/>
                </a:solidFill>
                <a:latin typeface="Cambria"/>
              </a:rPr>
              <a:t>0.20</a:t>
            </a:r>
          </a:p>
        </p:txBody>
      </p:sp>
      <p:sp>
        <p:nvSpPr>
          <p:cNvPr id="8" name="TextBox 7"/>
          <p:cNvSpPr txBox="1"/>
          <p:nvPr/>
        </p:nvSpPr>
        <p:spPr>
          <a:xfrm>
            <a:off x="1005840" y="6089904"/>
            <a:ext cx="2560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CADCFC"/>
                </a:solidFill>
                <a:latin typeface="Calibri"/>
              </a:rPr>
              <a:t>HOLD-OUT SHARPE</a:t>
            </a:r>
          </a:p>
        </p:txBody>
      </p:sp>
      <p:sp>
        <p:nvSpPr>
          <p:cNvPr id="9" name="TextBox 8"/>
          <p:cNvSpPr txBox="1"/>
          <p:nvPr/>
        </p:nvSpPr>
        <p:spPr>
          <a:xfrm>
            <a:off x="3657600" y="5596128"/>
            <a:ext cx="2560320" cy="50292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FFFFFF"/>
                </a:solidFill>
                <a:latin typeface="Cambria"/>
              </a:rPr>
              <a:t>0.52</a:t>
            </a:r>
          </a:p>
        </p:txBody>
      </p:sp>
      <p:sp>
        <p:nvSpPr>
          <p:cNvPr id="10" name="TextBox 9"/>
          <p:cNvSpPr txBox="1"/>
          <p:nvPr/>
        </p:nvSpPr>
        <p:spPr>
          <a:xfrm>
            <a:off x="3657600" y="6089904"/>
            <a:ext cx="2560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CADCFC"/>
                </a:solidFill>
                <a:latin typeface="Calibri"/>
              </a:rPr>
              <a:t>HOLD-OUT ALPHA T</a:t>
            </a:r>
          </a:p>
        </p:txBody>
      </p:sp>
      <p:sp>
        <p:nvSpPr>
          <p:cNvPr id="11" name="TextBox 10"/>
          <p:cNvSpPr txBox="1"/>
          <p:nvPr/>
        </p:nvSpPr>
        <p:spPr>
          <a:xfrm>
            <a:off x="6309360" y="5596128"/>
            <a:ext cx="2560320" cy="50292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FFFFFF"/>
                </a:solidFill>
                <a:latin typeface="Cambria"/>
              </a:rPr>
              <a:t>-0.12</a:t>
            </a:r>
          </a:p>
        </p:txBody>
      </p:sp>
      <p:sp>
        <p:nvSpPr>
          <p:cNvPr id="12" name="TextBox 11"/>
          <p:cNvSpPr txBox="1"/>
          <p:nvPr/>
        </p:nvSpPr>
        <p:spPr>
          <a:xfrm>
            <a:off x="6309360" y="6089904"/>
            <a:ext cx="2560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CADCFC"/>
                </a:solidFill>
                <a:latin typeface="Calibri"/>
              </a:rPr>
              <a:t>CORR TO BTC</a:t>
            </a:r>
          </a:p>
        </p:txBody>
      </p:sp>
      <p:sp>
        <p:nvSpPr>
          <p:cNvPr id="13" name="TextBox 12"/>
          <p:cNvSpPr txBox="1"/>
          <p:nvPr/>
        </p:nvSpPr>
        <p:spPr>
          <a:xfrm>
            <a:off x="8961119" y="5596128"/>
            <a:ext cx="2560320" cy="50292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FFFFFF"/>
                </a:solidFill>
                <a:latin typeface="Cambria"/>
              </a:rPr>
              <a:t>0.93</a:t>
            </a:r>
          </a:p>
        </p:txBody>
      </p:sp>
      <p:sp>
        <p:nvSpPr>
          <p:cNvPr id="14" name="TextBox 13"/>
          <p:cNvSpPr txBox="1"/>
          <p:nvPr/>
        </p:nvSpPr>
        <p:spPr>
          <a:xfrm>
            <a:off x="8961119" y="6089904"/>
            <a:ext cx="2560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CADCFC"/>
                </a:solidFill>
                <a:latin typeface="Calibri"/>
              </a:rPr>
              <a:t>RESEARCH SHARPE</a:t>
            </a:r>
          </a:p>
        </p:txBody>
      </p:sp>
      <p:sp>
        <p:nvSpPr>
          <p:cNvPr id="15" name="TextBox 14"/>
          <p:cNvSpPr txBox="1"/>
          <p:nvPr/>
        </p:nvSpPr>
        <p:spPr>
          <a:xfrm>
            <a:off x="11247120" y="6419088"/>
            <a:ext cx="73152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0" i="0">
                <a:solidFill>
                  <a:srgbClr val="5A5A5A"/>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